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3086c2e253401b" /><Relationship Type="http://schemas.openxmlformats.org/officeDocument/2006/relationships/extended-properties" Target="/docProps/app.xml" Id="R4c14ef6f948c4c6f" /><Relationship Type="http://schemas.openxmlformats.org/officeDocument/2006/relationships/officeDocument" Target="/ppt/presentation.xml" Id="Rc45b715087774d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5b7b7a7aa147f5"/>
  </p:sldMasterIdLst>
  <p:notesMasterIdLst>
    <p:notesMasterId xmlns:r="http://schemas.openxmlformats.org/officeDocument/2006/relationships" r:id="R5237a53d8b064c21"/>
  </p:notesMasterIdLst>
  <p:sldIdLst>
    <p:sldId xmlns:r="http://schemas.openxmlformats.org/officeDocument/2006/relationships" id="256" r:id="R185beccaf8754716"/>
    <p:sldId xmlns:r="http://schemas.openxmlformats.org/officeDocument/2006/relationships" id="257" r:id="Rf3cbf7b1f62942c1"/>
    <p:sldId xmlns:r="http://schemas.openxmlformats.org/officeDocument/2006/relationships" id="258" r:id="R4e709fd132114dd2"/>
    <p:sldId xmlns:r="http://schemas.openxmlformats.org/officeDocument/2006/relationships" id="259" r:id="Re24e6135d3fc4a9f"/>
    <p:sldId xmlns:r="http://schemas.openxmlformats.org/officeDocument/2006/relationships" id="260" r:id="R8044959dd36947b5"/>
    <p:sldId xmlns:r="http://schemas.openxmlformats.org/officeDocument/2006/relationships" id="261" r:id="R31ac97a5b09b46b1"/>
    <p:sldId xmlns:r="http://schemas.openxmlformats.org/officeDocument/2006/relationships" id="262" r:id="R30ae6c5a5b3c4810"/>
    <p:sldId xmlns:r="http://schemas.openxmlformats.org/officeDocument/2006/relationships" id="263" r:id="Rd03d80b698ef46e3"/>
    <p:sldId xmlns:r="http://schemas.openxmlformats.org/officeDocument/2006/relationships" id="264" r:id="R20bdafcceafc4048"/>
    <p:sldId xmlns:r="http://schemas.openxmlformats.org/officeDocument/2006/relationships" id="265" r:id="Ra27568eca6ad409f"/>
    <p:sldId xmlns:r="http://schemas.openxmlformats.org/officeDocument/2006/relationships" id="266" r:id="Rb062c0357ba343e6"/>
    <p:sldId xmlns:r="http://schemas.openxmlformats.org/officeDocument/2006/relationships" id="267" r:id="R97089c4dd57948d7"/>
    <p:sldId xmlns:r="http://schemas.openxmlformats.org/officeDocument/2006/relationships" id="268" r:id="R10b142bcb2e74cdc"/>
    <p:sldId xmlns:r="http://schemas.openxmlformats.org/officeDocument/2006/relationships" id="269" r:id="Rf242d912977644fc"/>
    <p:sldId xmlns:r="http://schemas.openxmlformats.org/officeDocument/2006/relationships" id="270" r:id="R33902a2836a84ecc"/>
    <p:sldId xmlns:r="http://schemas.openxmlformats.org/officeDocument/2006/relationships" id="271" r:id="R8179121362d04ba9"/>
    <p:sldId xmlns:r="http://schemas.openxmlformats.org/officeDocument/2006/relationships" id="272" r:id="R24c891f9438d4bd2"/>
    <p:sldId xmlns:r="http://schemas.openxmlformats.org/officeDocument/2006/relationships" id="273" r:id="R278b4c0c4f4b4e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2f1d9fd8924d01" /><Relationship Type="http://schemas.openxmlformats.org/officeDocument/2006/relationships/slideMaster" Target="/ppt/slideMasters/slideMaster1.xml" Id="R235b7b7a7aa147f5" /><Relationship Type="http://schemas.openxmlformats.org/officeDocument/2006/relationships/notesMaster" Target="/ppt/notesMasters/notesMaster1.xml" Id="R5237a53d8b064c21" /><Relationship Type="http://schemas.openxmlformats.org/officeDocument/2006/relationships/presProps" Target="/ppt/presProps.xml" Id="R23b0c387ea644c5c" /><Relationship Type="http://schemas.openxmlformats.org/officeDocument/2006/relationships/viewProps" Target="/ppt/viewProps.xml" Id="Re8d4ffca777e494f" /><Relationship Type="http://schemas.openxmlformats.org/officeDocument/2006/relationships/tableStyles" Target="/ppt/tableStyles.xml" Id="R685629fa6ee541a9" /><Relationship Type="http://schemas.openxmlformats.org/officeDocument/2006/relationships/slide" Target="/ppt/slides/slide1.xml" Id="R185beccaf8754716" /><Relationship Type="http://schemas.openxmlformats.org/officeDocument/2006/relationships/slide" Target="/ppt/slides/slide2.xml" Id="Rf3cbf7b1f62942c1" /><Relationship Type="http://schemas.openxmlformats.org/officeDocument/2006/relationships/slide" Target="/ppt/slides/slide3.xml" Id="R4e709fd132114dd2" /><Relationship Type="http://schemas.openxmlformats.org/officeDocument/2006/relationships/slide" Target="/ppt/slides/slide4.xml" Id="Re24e6135d3fc4a9f" /><Relationship Type="http://schemas.openxmlformats.org/officeDocument/2006/relationships/slide" Target="/ppt/slides/slide5.xml" Id="R8044959dd36947b5" /><Relationship Type="http://schemas.openxmlformats.org/officeDocument/2006/relationships/slide" Target="/ppt/slides/slide6.xml" Id="R31ac97a5b09b46b1" /><Relationship Type="http://schemas.openxmlformats.org/officeDocument/2006/relationships/slide" Target="/ppt/slides/slide7.xml" Id="R30ae6c5a5b3c4810" /><Relationship Type="http://schemas.openxmlformats.org/officeDocument/2006/relationships/slide" Target="/ppt/slides/slide8.xml" Id="Rd03d80b698ef46e3" /><Relationship Type="http://schemas.openxmlformats.org/officeDocument/2006/relationships/slide" Target="/ppt/slides/slide9.xml" Id="R20bdafcceafc4048" /><Relationship Type="http://schemas.openxmlformats.org/officeDocument/2006/relationships/slide" Target="/ppt/slides/slide10.xml" Id="Ra27568eca6ad409f" /><Relationship Type="http://schemas.openxmlformats.org/officeDocument/2006/relationships/slide" Target="/ppt/slides/slide11.xml" Id="Rb062c0357ba343e6" /><Relationship Type="http://schemas.openxmlformats.org/officeDocument/2006/relationships/slide" Target="/ppt/slides/slide12.xml" Id="R97089c4dd57948d7" /><Relationship Type="http://schemas.openxmlformats.org/officeDocument/2006/relationships/slide" Target="/ppt/slides/slide13.xml" Id="R10b142bcb2e74cdc" /><Relationship Type="http://schemas.openxmlformats.org/officeDocument/2006/relationships/slide" Target="/ppt/slides/slide14.xml" Id="Rf242d912977644fc" /><Relationship Type="http://schemas.openxmlformats.org/officeDocument/2006/relationships/slide" Target="/ppt/slides/slide15.xml" Id="R33902a2836a84ecc" /><Relationship Type="http://schemas.openxmlformats.org/officeDocument/2006/relationships/slide" Target="/ppt/slides/slide16.xml" Id="R8179121362d04ba9" /><Relationship Type="http://schemas.openxmlformats.org/officeDocument/2006/relationships/slide" Target="/ppt/slides/slide17.xml" Id="R24c891f9438d4bd2" /><Relationship Type="http://schemas.openxmlformats.org/officeDocument/2006/relationships/slide" Target="/ppt/slides/slide18.xml" Id="R278b4c0c4f4b4e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f38dc7fdf947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a7633969fe45d9" /><Relationship Type="http://schemas.openxmlformats.org/officeDocument/2006/relationships/notesMaster" Target="/ppt/notesMasters/notesMaster1.xml" Id="R701e3c72c10a45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7500a11e19450e" /><Relationship Type="http://schemas.openxmlformats.org/officeDocument/2006/relationships/notesMaster" Target="/ppt/notesMasters/notesMaster1.xml" Id="R4cc17b2e428d40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bdaec1c57a48e7" /><Relationship Type="http://schemas.openxmlformats.org/officeDocument/2006/relationships/notesMaster" Target="/ppt/notesMasters/notesMaster1.xml" Id="R8b41e261e9004c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64313670064730" /><Relationship Type="http://schemas.openxmlformats.org/officeDocument/2006/relationships/notesMaster" Target="/ppt/notesMasters/notesMaster1.xml" Id="R6d3681974d5847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03b23e9a1841e7" /><Relationship Type="http://schemas.openxmlformats.org/officeDocument/2006/relationships/notesMaster" Target="/ppt/notesMasters/notesMaster1.xml" Id="R696aac8263614f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c61b3f692c4983" /><Relationship Type="http://schemas.openxmlformats.org/officeDocument/2006/relationships/notesMaster" Target="/ppt/notesMasters/notesMaster1.xml" Id="R5ad3dd299a5e47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7ff1e41ffd4d47" /><Relationship Type="http://schemas.openxmlformats.org/officeDocument/2006/relationships/notesMaster" Target="/ppt/notesMasters/notesMaster1.xml" Id="R88f4f0d2ab214b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0192dfa42b40a9" /><Relationship Type="http://schemas.openxmlformats.org/officeDocument/2006/relationships/notesMaster" Target="/ppt/notesMasters/notesMaster1.xml" Id="Rcde6884eb2a144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fff6d1ae5a48a8" /><Relationship Type="http://schemas.openxmlformats.org/officeDocument/2006/relationships/notesMaster" Target="/ppt/notesMasters/notesMaster1.xml" Id="R31f5401baf3d45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b7bb92c73247eb" /><Relationship Type="http://schemas.openxmlformats.org/officeDocument/2006/relationships/notesMaster" Target="/ppt/notesMasters/notesMaster1.xml" Id="Rd34cabd046d944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f663ab6d3a4efe" /><Relationship Type="http://schemas.openxmlformats.org/officeDocument/2006/relationships/notesMaster" Target="/ppt/notesMasters/notesMaster1.xml" Id="R3a7ffd49a70742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ad6cbdb0684115" /><Relationship Type="http://schemas.openxmlformats.org/officeDocument/2006/relationships/notesMaster" Target="/ppt/notesMasters/notesMaster1.xml" Id="R4050399cbdac41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5d8b878ad54daf" /><Relationship Type="http://schemas.openxmlformats.org/officeDocument/2006/relationships/notesMaster" Target="/ppt/notesMasters/notesMaster1.xml" Id="Rd1a2496b7c0241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e0492c4cbc445b" /><Relationship Type="http://schemas.openxmlformats.org/officeDocument/2006/relationships/notesMaster" Target="/ppt/notesMasters/notesMaster1.xml" Id="Rff4294e74d0b43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798b45d0104c3a" /><Relationship Type="http://schemas.openxmlformats.org/officeDocument/2006/relationships/notesMaster" Target="/ppt/notesMasters/notesMaster1.xml" Id="Rd0cfa7a63e0741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0a102181fc455a" /><Relationship Type="http://schemas.openxmlformats.org/officeDocument/2006/relationships/notesMaster" Target="/ppt/notesMasters/notesMaster1.xml" Id="R4d4527c4750046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3f3a837b1a413e" /><Relationship Type="http://schemas.openxmlformats.org/officeDocument/2006/relationships/notesMaster" Target="/ppt/notesMasters/notesMaster1.xml" Id="R954dbce35b3d47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e21a7400f34375" /><Relationship Type="http://schemas.openxmlformats.org/officeDocument/2006/relationships/notesMaster" Target="/ppt/notesMasters/notesMaster1.xml" Id="Rcb9291ffa33d44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1fde78e6a47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631130beaf48c1" /><Relationship Type="http://schemas.openxmlformats.org/officeDocument/2006/relationships/slideLayout" Target="/ppt/slideLayouts/slideLayout1.xml" Id="Re81abf92472648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1abf92472648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89d9844b14245" /><Relationship Type="http://schemas.openxmlformats.org/officeDocument/2006/relationships/notesSlide" Target="/ppt/notesSlides/notesSlide1.xml" Id="R2dcf1853cdf144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7451bacf640a4" /><Relationship Type="http://schemas.openxmlformats.org/officeDocument/2006/relationships/notesSlide" Target="/ppt/notesSlides/notesSlide2.xml" Id="R9010abbc8d2a40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c6c3f3bea41ed" /><Relationship Type="http://schemas.openxmlformats.org/officeDocument/2006/relationships/notesSlide" Target="/ppt/notesSlides/notesSlide3.xml" Id="Rcedb9fed63e847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ce244b98044a1" /><Relationship Type="http://schemas.openxmlformats.org/officeDocument/2006/relationships/notesSlide" Target="/ppt/notesSlides/notesSlide4.xml" Id="R70f67dd7663042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727f622af4536" /><Relationship Type="http://schemas.openxmlformats.org/officeDocument/2006/relationships/notesSlide" Target="/ppt/notesSlides/notesSlide5.xml" Id="Raff3154221ec4d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e8dc210b24596" /><Relationship Type="http://schemas.openxmlformats.org/officeDocument/2006/relationships/notesSlide" Target="/ppt/notesSlides/notesSlide6.xml" Id="R80204d7034534c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202a9d6684c9e" /><Relationship Type="http://schemas.openxmlformats.org/officeDocument/2006/relationships/notesSlide" Target="/ppt/notesSlides/notesSlide7.xml" Id="R4cc8a4c950cd4b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02f3d089a44ea" /><Relationship Type="http://schemas.openxmlformats.org/officeDocument/2006/relationships/notesSlide" Target="/ppt/notesSlides/notesSlide8.xml" Id="Rb4efac59ca3647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d82cab8f44e53" /><Relationship Type="http://schemas.openxmlformats.org/officeDocument/2006/relationships/notesSlide" Target="/ppt/notesSlides/notesSlide9.xml" Id="R1e309778ee6b42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bd770f69a4991" /><Relationship Type="http://schemas.openxmlformats.org/officeDocument/2006/relationships/notesSlide" Target="/ppt/notesSlides/notesSlide10.xml" Id="Rc15b9153cae84b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1d116adc64617" /><Relationship Type="http://schemas.openxmlformats.org/officeDocument/2006/relationships/notesSlide" Target="/ppt/notesSlides/notesSlide11.xml" Id="R1fb62159f15148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2f941e2814a29" /><Relationship Type="http://schemas.openxmlformats.org/officeDocument/2006/relationships/notesSlide" Target="/ppt/notesSlides/notesSlide12.xml" Id="Ra32f9ab6c66b46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6bff802134a0a" /><Relationship Type="http://schemas.openxmlformats.org/officeDocument/2006/relationships/notesSlide" Target="/ppt/notesSlides/notesSlide13.xml" Id="R4715f04e644f40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d55b9678940d3" /><Relationship Type="http://schemas.openxmlformats.org/officeDocument/2006/relationships/notesSlide" Target="/ppt/notesSlides/notesSlide14.xml" Id="R4fa152ade18b40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30b9b58ec4900" /><Relationship Type="http://schemas.openxmlformats.org/officeDocument/2006/relationships/notesSlide" Target="/ppt/notesSlides/notesSlide15.xml" Id="R78b1bff1b1da47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43a8a094a4c45" /><Relationship Type="http://schemas.openxmlformats.org/officeDocument/2006/relationships/notesSlide" Target="/ppt/notesSlides/notesSlide16.xml" Id="R15d57c17917e4f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8aa2c6e824ae6" /><Relationship Type="http://schemas.openxmlformats.org/officeDocument/2006/relationships/notesSlide" Target="/ppt/notesSlides/notesSlide17.xml" Id="R36f5ff72843640f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b37b202524a21" /><Relationship Type="http://schemas.openxmlformats.org/officeDocument/2006/relationships/notesSlide" Target="/ppt/notesSlides/notesSlide18.xml" Id="Rf50453e2e9ff41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F743BE-ABFF-4297-AEF9-0DDE47FB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0011A-BA5F-4D57-A6CF-49F78A5F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6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6C144-89EF-4AF6-90BA-40A9E715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0A81F-E7DD-49F8-88C0-C2730567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334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Lease Summariser turns lease files into grounded answers.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3230C-DAC2-457E-86ED-95778E93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8D5E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8D5E0"/>
                </a:solidFill>
                <a:latin typeface="Aptos"/>
                <a:ea typeface="Aptos"/>
                <a:cs typeface="Aptos"/>
              </a:rPr>
              <a:t>A mixed-audience walkthrough of the current system, based only on the live codebase.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DCC04-9BB7-4669-A5A5-70E2130E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58"/>
          </a:solidFill>
          <a:ln xmlns:a="http://schemas.openxmlformats.org/drawingml/2006/main" w="9525">
            <a:solidFill>
              <a:srgbClr val="2D53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A943F-A52F-4896-A253-5C88C479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1FF61-BD94-4DC2-8A10-8C70860F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Summarise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7429B-E1B7-4243-B0FF-B2837644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Extract key lease facts and warnings.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0927E-DB2D-4F53-8952-27D5AD76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7195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58"/>
          </a:solidFill>
          <a:ln xmlns:a="http://schemas.openxmlformats.org/drawingml/2006/main" w="9525">
            <a:solidFill>
              <a:srgbClr val="2D53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D6141-6B0F-4CDA-BED6-91EA3EFE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624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2"/>
          </a:solidFill>
          <a:ln xmlns:a="http://schemas.openxmlformats.org/drawingml/2006/main" w="9525">
            <a:solidFill>
              <a:srgbClr val="1F7A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0BB48-D438-4268-8C16-51648038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2912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F7A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7A7A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18BDE-B549-418E-A56F-9DF5910D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006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 practical differences between leases.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6849B-CBBA-469E-9D00-497003C9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7195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58"/>
          </a:solidFill>
          <a:ln xmlns:a="http://schemas.openxmlformats.org/drawingml/2006/main" w="9525">
            <a:solidFill>
              <a:srgbClr val="2D53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0F9AA-52FD-41BD-A3A4-5A98341E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685A9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85A83-45CE-4896-AEBD-F4E1F824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2912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85A9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85A9E"/>
                </a:solidFill>
                <a:latin typeface="Aptos"/>
                <a:ea typeface="Aptos"/>
                <a:cs typeface="Aptos"/>
              </a:rPr>
              <a:t>Index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EF711-D441-4530-B031-D50BB22D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Turn S3 leases into searchable knowledge.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FAA71-3D86-4F64-B0A5-F76E769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71950"/>
            <a:ext cx="2533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58"/>
          </a:solidFill>
          <a:ln xmlns:a="http://schemas.openxmlformats.org/drawingml/2006/main" w="9525">
            <a:solidFill>
              <a:srgbClr val="2D53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2E216-1F30-4946-9739-25A7AD10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624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4E8D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FF187-EABD-4961-BCDC-410D3566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2912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E8D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E8D5B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0D5EDF-466F-44D1-B785-52B20C8B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006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grounded questions with saved sessions.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BE9B12-47D4-490D-9EBB-25A46DF2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7D0D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7D0D9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83C498-711B-4F2F-89E3-322A8750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C7D0D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7D0D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35137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96E184-BAB2-4E06-9CA2-E1D5548B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use case-marker">
            <a:extLst xmlns:a="http://schemas.openxmlformats.org/drawingml/2006/main">
              <a:ext uri="{FF2B5EF4-FFF2-40B4-BE49-F238E27FC236}">
                <a16:creationId xmlns:a16="http://schemas.microsoft.com/office/drawing/2014/main" id="{9E89F6B1-3350-44BF-8A01-CE7DAD6D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use case-label">
            <a:extLst xmlns:a="http://schemas.openxmlformats.org/drawingml/2006/main">
              <a:ext uri="{FF2B5EF4-FFF2-40B4-BE49-F238E27FC236}">
                <a16:creationId xmlns:a16="http://schemas.microsoft.com/office/drawing/2014/main" id="{39625002-966B-4324-AB3B-5B5830EE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E8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E8D5B"/>
                </a:solidFill>
                <a:latin typeface="Aptos"/>
                <a:ea typeface="Aptos"/>
                <a:cs typeface="Aptos"/>
              </a:rPr>
              <a:t>USE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C149D-A4ED-4877-8278-8BDF7548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The use case is faster lease understanding without reading every document manually.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C78A9-4D0A-4A61-A0C2-1CDFB69C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The system supports practical lease review for non-legal stakeholders while keeping answers grounded in source documents.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943C2-52A6-4057-9AC4-D3CB7FF6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2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2EAEC-F1B0-4DC6-BD70-BD42BC1F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ABA41-F846-489A-8352-9D6A8131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Property and operations 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C9669-DEB8-4D16-B2BB-691AB96F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876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Need to find key dates, rent, deposits, parties, obligations, unusual clauses, and differences across leases quickly.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91199-01A7-487A-B58D-1FCC15A0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C9048-FF06-428A-9550-8B66C8A2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2E04F-D73D-4782-B380-93F3E139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Technical reviewers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FA5EB-CBF9-4816-BD1B-4E5F21E3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2876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Need predictable API contracts, source-grounded AI outputs, and clear separation between summary, RAG, and storage.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4310F-347F-4808-BE9C-88549392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23BC3-7370-4AD0-8442-873CC82B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A2CB6-B878-49F3-8A35-CD8E0DD3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Deployment stakeholders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4A204-8F9D-42BF-BFC6-34CAE93B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2876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Need S3, Azure OpenAI, ChromaDB, and DynamoDB responsibilities to be understandable and operable.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FCF7F-CDB9-43E5-83C9-216E7697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1490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4E8D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6F374-2554-458A-A343-8FF6B711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863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The product reduces lease-review effort, but does not replace legal judgment.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A7BE3-F1A3-4AE4-A546-25515F0D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6B594-A246-4E65-A4BE-73BA48B6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51607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61ABBC-A7CC-4768-BD0D-B58EBFC1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roduct model-marker">
            <a:extLst xmlns:a="http://schemas.openxmlformats.org/drawingml/2006/main">
              <a:ext uri="{FF2B5EF4-FFF2-40B4-BE49-F238E27FC236}">
                <a16:creationId xmlns:a16="http://schemas.microsoft.com/office/drawing/2014/main" id="{14FE63B3-2191-4B41-AF10-BFAF6E93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oduct model-label">
            <a:extLst xmlns:a="http://schemas.openxmlformats.org/drawingml/2006/main">
              <a:ext uri="{FF2B5EF4-FFF2-40B4-BE49-F238E27FC236}">
                <a16:creationId xmlns:a16="http://schemas.microsoft.com/office/drawing/2014/main" id="{9F3C6BF4-DFD7-4A1C-A4A9-F01C6755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7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A7A"/>
                </a:solidFill>
                <a:latin typeface="Aptos"/>
                <a:ea typeface="Aptos"/>
                <a:cs typeface="Aptos"/>
              </a:rPr>
              <a:t>PRODUCT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E2606-8968-4853-8F21-E1BB0EDD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Users follow two clear workspaces: Local Leases and S3 Leases.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C9D27-5EFE-4E97-9629-A30B11D2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The UI separates quick one-off work from managed cloud-backed lease knowledge.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B4425-4278-4EB2-84D9-8E4BF80F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2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29869-C2DC-45AA-BE75-486E6909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38BC6-6B84-40F4-AD09-32285E94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440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Local Leases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5C1AE-276E-48AE-ADEB-6BD44E20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4400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Summarise and Compare tabs use pasted text or local .txt, .pdf, and .docx uploads.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B99E3-BA42-4E67-8200-C4BC13DB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37414-C295-4CDD-807B-ACD682B3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A7E98-C613-4EC5-8299-0490007D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440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Why it exists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3FAF0-A87B-4650-B5D5-58A342AF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4400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Best for ad hoc document analysis where users do not need S3, indexing, saved chat, or shared lease knowledge.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79F60-E401-4AC2-953C-B241AC10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5745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52FC2C-C76E-4566-BB57-EE779231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574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C69C9-6340-46F4-AAEE-4D3D2E08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28900"/>
            <a:ext cx="440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S3 Leases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403EC-C777-4E3B-9A78-7021AF33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0"/>
            <a:ext cx="4400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Index &amp; Upload, Index, Summarise, Compare, and Chat tabs use leases from one configured S3 bucket/prefix.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B2763-8429-4B7B-8180-510A07C1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7E1EC-F514-42B6-8413-AE7BE878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2FE6B2-1535-43FD-AC87-8FDCB78F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76700"/>
            <a:ext cx="440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Why it exists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6A8A2-3942-4111-9AB3-51456F9C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00550"/>
            <a:ext cx="4400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Best for repeatable workflows across stored leases, indexed retrieval, deterministic summary facts, and saved chat sessions.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C2AB0-3C7B-479E-A73B-FBA71151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2CD5F-88A1-496E-AF71-C7ACDA67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57912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A2E1E3-398B-429C-A660-14AF622D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workflow-marker">
            <a:extLst xmlns:a="http://schemas.openxmlformats.org/drawingml/2006/main">
              <a:ext uri="{FF2B5EF4-FFF2-40B4-BE49-F238E27FC236}">
                <a16:creationId xmlns:a16="http://schemas.microsoft.com/office/drawing/2014/main" id="{B285F736-B247-4DE3-B234-E1ED52B3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workflow-label">
            <a:extLst xmlns:a="http://schemas.openxmlformats.org/drawingml/2006/main">
              <a:ext uri="{FF2B5EF4-FFF2-40B4-BE49-F238E27FC236}">
                <a16:creationId xmlns:a16="http://schemas.microsoft.com/office/drawing/2014/main" id="{4114C6D6-8C9A-4BB4-BAE3-07BD4CA2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7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A7A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E058B-9E35-4CC6-8562-1EC42096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The product flow separates ad hoc analysis from indexed knowledge.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F76C1-AF19-4712-AC90-6FBF9ED4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The same backend rules support both paths, but S3 adds persistence and retrieval.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8207A-0F6D-4855-8674-48494A4D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2"/>
          </a:solidFill>
          <a:ln xmlns:a="http://schemas.openxmlformats.org/drawingml/2006/main" w="9525">
            <a:solidFill>
              <a:srgbClr val="1F7A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BFA28-153F-4E6B-80AA-477A94B9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62F42-1192-4351-87FA-01255D85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User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0B4B3-B8B7-465B-848B-8669D385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Paste/upload locally or select/upload an S3 lease.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B3E22-69AC-4D18-BC74-B12510B0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B57F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CB5C0-33E6-4FA4-9C14-6B17E2B7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5C224-6EBB-4BEA-909D-146DC7E0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337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Parse and 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E0343-35B5-4D50-8923-2C560AD7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385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Shared parser, supported types, 100+ word check.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D6456-C36F-483C-8D5B-578FF0D4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336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82A12-D7CE-4ED4-9AA6-6D80F442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336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67D3E-2764-4088-8005-29878B45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050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Structured 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DBBCA-20DA-42F2-85C8-259ECC62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098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Summary, verification, comparison.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8302E-C81C-46D1-8227-CCCDFFE0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909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685A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ACB5A-A669-42B0-A428-664EA755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909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71EB29-5257-4D0F-88F3-E17EA6E8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623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RAG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CCDEC-1097-4E43-B9AE-3CDCDC85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671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Index, retrieve chunks, use stored summaries.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D4A361-7975-49FA-B3A8-884D8B1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4E8D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3A3FD4-2B12-4CAB-BE98-6853885E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3EAC7E-572B-444E-9FDF-25B2FEB1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Rendered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47A2D2-490E-4E72-9B99-AFE963B8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098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Summary cards, comparison tables, warnings.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924454-6D26-4B4B-A08F-7DF0A7B0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9525">
            <a:solidFill>
              <a:srgbClr val="A94D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123BAC-D7CB-41C1-B6E2-0A9784B0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8AB18-B87E-48C7-8E34-94A6C7F6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Chat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CB61D6-1AAE-46E6-A80A-A94587AB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671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Answer, citations, sources, saved session.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803AC5-CAA9-4331-898B-AC92E3D7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004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C1B999-24F7-4DA4-9055-A2247207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7123DA-00AB-4664-BBB7-2EF2B609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04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657C40-36DB-444A-B7C9-22B7CE3A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7F0AE8-B9CA-4C9D-8409-B49AE0B2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290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C5AE1C-0C55-4D21-A75A-B8A1AE77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5C9654-36FD-4CD7-AA10-295BDD46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6097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C35730-9B45-4A8F-8183-81270CCD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outputs-marker">
            <a:extLst xmlns:a="http://schemas.openxmlformats.org/drawingml/2006/main">
              <a:ext uri="{FF2B5EF4-FFF2-40B4-BE49-F238E27FC236}">
                <a16:creationId xmlns:a16="http://schemas.microsoft.com/office/drawing/2014/main" id="{CFE24E15-CDAC-470A-80D7-7F3919DE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outputs-label">
            <a:extLst xmlns:a="http://schemas.openxmlformats.org/drawingml/2006/main">
              <a:ext uri="{FF2B5EF4-FFF2-40B4-BE49-F238E27FC236}">
                <a16:creationId xmlns:a16="http://schemas.microsoft.com/office/drawing/2014/main" id="{075394D6-8C06-4BE0-8106-A6E77EC0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0E881-50ED-4984-9842-3858AD36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Outputs are structured, verified, cited, and reusable.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9E82F-F69C-4467-AC10-B8515BCA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The system is designed to return more than model prose.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C10CF-8C2E-4465-9405-FA6B7BFB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3009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1EF99-5C73-4AB1-BED2-1BC78BC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0C7A0-B30D-4E07-AFA6-5EDFCFF5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Lease extraction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7F8AB-5193-4E5E-9200-ACEA8330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647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Tenant, landlord, address, dates, rent, rent due date, deposit, notice, obligations, unusual clauses, and plain-English summary.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806BC-3FB7-4B7E-84DD-3F142337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0300"/>
            <a:ext cx="3009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F900D-3FE6-468F-B620-50894768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03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C7BB2-9354-46AB-A6F7-353FD22C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7D775-511E-4031-8B7F-FDB01CAC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647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Each extracted field is marked supported, unsupported, or missing from extraction, with evidence where possible.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2D1E4-B74A-447F-A141-37DA149D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00300"/>
            <a:ext cx="3009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2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ECB3C-A312-4DD7-B45A-48A08D93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003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0F673-E4B3-45C2-B7E4-C3BC4A9D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2CF78-7FC5-4FDC-8229-7516DCE9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95600"/>
            <a:ext cx="2647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Differences include field values and practical impact for a non-legal audience.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B0DFDC-EE57-49F0-A239-395EC340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009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8A498-56B0-48B9-B4B0-0F583F6D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15D98-A382-4812-96A9-9A12461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EF8C51-520C-490D-B554-2C17B630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2647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RAG chat citations distinguish summary facts from chunk snippets.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A7194-0A73-40D0-9488-66826A3F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38600"/>
            <a:ext cx="3009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DA944-D386-43EF-8485-1E3C6BEB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386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B54FC-DCD2-45D2-81FF-757BA78F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100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Warnings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095D2-2853-445E-8875-387AA14D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33900"/>
            <a:ext cx="2647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Unsupported extractions, chat history save failures, and summary/index failures are surfaced.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C8D7B7-4E9C-4134-A69D-1134AB82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38600"/>
            <a:ext cx="3009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1AAA2-0362-4259-A1B9-6E95B3C8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386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060C25-AADA-4573-B4F6-BBDE2F39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100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Quality scores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56BA7C-F8F2-42B9-96A2-BCA7F730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33900"/>
            <a:ext cx="2647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RAGAS scores can show faithfulness, relevancy, context precision, and context recall.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608D1F-7203-4818-A3F9-36A6C87B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D5A180-1841-4DF8-BABE-9C99CE50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77437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D9FA07-4C06-4D0C-964B-778022B7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architecture-marker">
            <a:extLst xmlns:a="http://schemas.openxmlformats.org/drawingml/2006/main">
              <a:ext uri="{FF2B5EF4-FFF2-40B4-BE49-F238E27FC236}">
                <a16:creationId xmlns:a16="http://schemas.microsoft.com/office/drawing/2014/main" id="{1C7F25D8-4A1C-4159-918F-A17091CF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architecture-label">
            <a:extLst xmlns:a="http://schemas.openxmlformats.org/drawingml/2006/main">
              <a:ext uri="{FF2B5EF4-FFF2-40B4-BE49-F238E27FC236}">
                <a16:creationId xmlns:a16="http://schemas.microsoft.com/office/drawing/2014/main" id="{1E8D3E30-3CFC-4BDD-B862-326B89D3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C86FA-205F-47E4-871F-ABF15FDA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The architecture keeps UI, API, AI, storage, RAG, and history separate.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73EE0-AC4C-40A9-8232-689E1F02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Each component has one clear job for stakeholders and implementers.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81424-C875-4D83-95FC-4B8138D9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2"/>
          </a:solidFill>
          <a:ln xmlns:a="http://schemas.openxmlformats.org/drawingml/2006/main" w="9525">
            <a:solidFill>
              <a:srgbClr val="1F7A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CF60B-32DF-40FE-AC32-0941FE5B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695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B8F33-6188-43B8-A847-0640B93E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Streamlit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B7822-E81F-4F74-8E80-658D62F0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Local/S3 workspaces and rendering.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42A95-5CA3-4711-8509-06178087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76550"/>
            <a:ext cx="190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0E032-E93D-4F11-B790-93077FB6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7655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E03EF-0057-4342-8D7F-4DEF7393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480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FastAPI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1E03F-7C4E-40BE-8652-10F981EC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52800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Validation, routing, orchestration, errors.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EE0A9-CEBF-434A-989C-6F585BEB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43100"/>
            <a:ext cx="1924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DBBF7-94EF-41BC-82DB-459012C1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43100"/>
            <a:ext cx="1924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7EE71-1146-4A0C-8B04-46544658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145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Structured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37FAF-DD06-4E31-AE5E-47150269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193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JSON Schema extraction, verification, compare.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3F854-2D36-44E7-A6A0-6CC97A9C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4310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59FF1-5AFB-46B4-8D7B-6CC868AC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4310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7A036-8AD5-4982-9A82-FB4E5CE1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Azure OpenAI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C5409-B8A5-402F-98BE-7396EFE4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Generation and embeddings.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AD87F3-EEB4-4A01-9717-CC4CC569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86100"/>
            <a:ext cx="1924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685A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F5EC8-D5A9-493A-82EC-5F1355AB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86100"/>
            <a:ext cx="1924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5F1AD1-7887-4C26-A102-31CE1407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RAG 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2BD248-E00C-4798-A6B4-71A5EBDF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623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Chunking, embeddings, search, chat routing.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3C9821-69AC-4EB0-AF11-27D46331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8610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685A9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C015BD-3375-4E45-B6F3-005AB746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8610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661EC-B9C7-4FF9-B5BA-ED5D1486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ChromaDB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D01C5D-463B-4190-8C46-3AD4AEB7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Per-lease collections.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8980DD-0DE8-4F59-9BEF-62C06867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29100"/>
            <a:ext cx="1924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9525">
            <a:solidFill>
              <a:srgbClr val="A94D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0724F3-3EE4-4816-89FC-D36C25BB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29100"/>
            <a:ext cx="1924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255D35-6545-4D2A-B5D3-6704B78B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005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Chat history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D86FD2-3B8A-4DAB-9975-049314A7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053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Sessions, citations, warnings, eval.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9CBFDC-E779-48E5-886A-A950A573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9525">
            <a:solidFill>
              <a:srgbClr val="A94D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29B234-3975-46B8-BA79-337DB497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1C1182-96F8-4EEE-961A-C5F067F8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DynamoDB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F9E078-EF5A-4A53-A363-84CBEAF4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pk/sk plus gsi1.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C7AA14-2C39-4429-9FE4-A9AC8D2B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4340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B57F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96FE43-4C95-472A-9AD8-5759BDF9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434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C7528F-51B8-4CDC-B19E-1411A468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148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S3 bucket/prefix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A7C69F-12C0-4A3F-BBF1-C574FE52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1965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Source leases and uploads.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1DEDC0-AE3C-410E-9AFB-53982E17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2422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98A485-6F1E-4151-AAFB-BB829FEE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52675"/>
            <a:ext cx="1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F558EC-1826-442A-8059-0923A6F6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52675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67524A-57A6-4AF6-A4D7-75C6AE5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099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AED7E9-3DE0-474E-B9D4-7B68C5A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95675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80D3F5-EEC6-4926-A3EC-B7083711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24225"/>
            <a:ext cx="19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177C53-2BAA-4295-AD62-BF1DA86C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38675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BF3550-8C7B-4D2E-9175-AC087A5B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7190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20819E-6A41-44E4-8EAB-24D6E23D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D2B28B-07C0-4E54-9D11-8E7DA0FE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526680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15C80F-77A2-45F1-9FA4-A1F7AE8A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backend flow-marker">
            <a:extLst xmlns:a="http://schemas.openxmlformats.org/drawingml/2006/main">
              <a:ext uri="{FF2B5EF4-FFF2-40B4-BE49-F238E27FC236}">
                <a16:creationId xmlns:a16="http://schemas.microsoft.com/office/drawing/2014/main" id="{B61A22E1-101A-4592-B6EC-7CB8CEE1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backend flow-label">
            <a:extLst xmlns:a="http://schemas.openxmlformats.org/drawingml/2006/main">
              <a:ext uri="{FF2B5EF4-FFF2-40B4-BE49-F238E27FC236}">
                <a16:creationId xmlns:a16="http://schemas.microsoft.com/office/drawing/2014/main" id="{86394266-74B4-412D-A7E2-1D01176B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E8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E8D5B"/>
                </a:solidFill>
                <a:latin typeface="Aptos"/>
                <a:ea typeface="Aptos"/>
                <a:cs typeface="Aptos"/>
              </a:rPr>
              <a:t>BACKEND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62BB4-C614-4682-9ECB-0C455272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The backend pipeline is deliberately conservative before any answer is shown.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CD90D-E89C-431F-ADA5-20D574FC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The same parser and validation behavior applies across local, S3, and indexed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70F82-BBD4-42A2-A185-A1D1C079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866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2"/>
          </a:solidFill>
          <a:ln xmlns:a="http://schemas.openxmlformats.org/drawingml/2006/main" w="9525">
            <a:solidFill>
              <a:srgbClr val="1F7A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522C2-EF04-4403-B978-52D3C733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C42C7-BEFE-42AE-9D95-E452CCF1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6530F-87D4-43DF-8304-7B425994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600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Extract text from txt, text-based PDF, or DOCX.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7BED2-70B6-4FA4-A52B-4C04D19D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242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FF299-70BD-46A5-BA24-D5A30043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14650"/>
            <a:ext cx="1866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B57F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93005-F204-42D7-A279-C676A525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1465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6E0AE-E52A-4635-A5CB-4DFAE0AB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861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18A01-9A57-4C83-94C9-0E87DA70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1600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Reject short, empty, or unsupported content.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74888-1BEE-45E5-9210-D052C922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242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EE3B3-0399-4D71-9188-20A34508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14650"/>
            <a:ext cx="1866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88446-FFC6-4CA8-A670-0359535D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1465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144DE-7F91-40B7-A976-EAA5CAB0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861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04DD9-388D-413A-940E-CD98FB68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1600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Fill LeaseExtraction through strict schema.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AA391-D6F4-4A54-9E47-EA8F307D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820DEE-D64A-415B-A9BF-D48CED92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1866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4E8D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F231A4-1262-478A-ADCF-B1850F23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B121F-5AB6-4286-B5EE-5D0760ED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CC182C-B33F-4FFC-A6B6-857ADD5A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90900"/>
            <a:ext cx="1600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Check each fact against the source lease.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39041-EFBF-4848-9B70-BE67B247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242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2454C8-9DDB-4DF2-A13B-7FE8B042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14650"/>
            <a:ext cx="1866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685A9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B509B1-354A-437F-AFF7-E6984B6E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1465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7A8688-A1D4-44F2-8AFB-59A46CBE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2C3C9C-2CEC-44D8-BD5A-777BC48F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90900"/>
            <a:ext cx="1600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Show summary, warnings, comparison, or chat.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84B8FD-3C40-4716-8664-3E1647B7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258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4E8D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F21823-5BD0-4C80-B1F4-3A0971CF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01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Comparison summarises and verifies both leases before asking for structured differences.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794EBC-E2B6-4976-BAB3-F4B551C8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D22DF1-261A-4C04-BA63-E636CBF9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89431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58F7C6-8E6F-4ADC-AF5F-D515DB1B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structured AI-marker">
            <a:extLst xmlns:a="http://schemas.openxmlformats.org/drawingml/2006/main">
              <a:ext uri="{FF2B5EF4-FFF2-40B4-BE49-F238E27FC236}">
                <a16:creationId xmlns:a16="http://schemas.microsoft.com/office/drawing/2014/main" id="{19C87A68-2777-4ED0-9DCE-106807FD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structured AI-label">
            <a:extLst xmlns:a="http://schemas.openxmlformats.org/drawingml/2006/main">
              <a:ext uri="{FF2B5EF4-FFF2-40B4-BE49-F238E27FC236}">
                <a16:creationId xmlns:a16="http://schemas.microsoft.com/office/drawing/2014/main" id="{C551E597-E596-470C-B90E-4A17E0B7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STRUCTURED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19A81-5722-476C-B292-62576493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Structured JSON and verification reduce model drift.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FACFF-0973-4DF6-8261-889796E7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The system treats AI output as typed data that must survive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14A4A-E787-4240-BB94-297D009B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20FDF-C6DC-40BC-AC63-0E7EDF7F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2053D-708F-45CD-8A78-934AD06D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Strict response schemas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9DEE2-E5AA-47FF-93D2-6550FD56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Pydantic models define the expected shape. The OpenAI response_format uses strict JSON Schema and disallows extra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EE180-8666-4893-B57D-573EA2BC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DD14D-CD7E-4DFA-BDE1-B32065EF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40424-D99E-4953-AF88-C899BE8F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6700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Grounded prompts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F1204-0151-4435-92B3-697002E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9085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Prompts tell the model to use only supplied lease text, return null for missing or unclear fields, and avoid legal advice.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22E26-EDEE-42EB-A44B-3D674445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BA05E-4787-4B8C-9051-42D2C46A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01C50-F8BB-44D7-8A04-1163482C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Guardrail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5393A-273B-4C38-826A-15EA4F0D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9085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Verification marks fields supported, unsupported, or missing, and chat guardrails reject unsupported or unprofessional responses.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3EA3A-5829-4135-B9BA-290E6914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95850"/>
            <a:ext cx="883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D4237-727D-4CC3-8A88-FF250B91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67300"/>
            <a:ext cx="822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Decision: make model output predictable first, then make it useful.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01972-B6AD-443F-9B4C-529C7ACF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9AFE0D-5214-4B6C-B9B7-27F7728E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422936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02F195-EE0A-4AE3-A8F8-F7047A62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interfaces-marker">
            <a:extLst xmlns:a="http://schemas.openxmlformats.org/drawingml/2006/main">
              <a:ext uri="{FF2B5EF4-FFF2-40B4-BE49-F238E27FC236}">
                <a16:creationId xmlns:a16="http://schemas.microsoft.com/office/drawing/2014/main" id="{453AC458-0A83-431E-935C-9E7C8C2A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interfaces-label">
            <a:extLst xmlns:a="http://schemas.openxmlformats.org/drawingml/2006/main">
              <a:ext uri="{FF2B5EF4-FFF2-40B4-BE49-F238E27FC236}">
                <a16:creationId xmlns:a16="http://schemas.microsoft.com/office/drawing/2014/main" id="{541DC41E-E662-4593-9AB1-A0925F23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INTERFACES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12DF0-7196-4F5B-B316-881A034A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APIs are grouped by local, S3, indexed, RAG, and chat-history needs.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15949-AD81-4152-A7C7-D9C4B915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This keeps the public surface explicit rather than hiding different data sources behind one ambiguous route.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DE56B-508F-4086-8F69-C3E0B90D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2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7C831-6D75-4FB7-9CAF-48242325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A85EF-9DA6-4EAA-A1DB-7C1FD89F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812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B02EC-0676-473B-ACA2-AD19CA44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24125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/summarise, /summarise-text, /compare, /compare-text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71C8C-3A28-4BCC-AFA6-2B9A983A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10903-9971-42D3-99AB-FE15CA9E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87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Parse local input and run the structured summary or comparison pipeline.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3F7D0-C28F-4F23-8FF2-4157BBFD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FFABC-279E-43FE-97B1-428947DB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F652D-7981-4A3A-8532-8255391E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480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21852-A8FA-410A-891A-9B0F56E9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90875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/s3/leases, /summarise-s3, /compare-s3, /upload-and-index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8C26B-B1E1-417D-A90C-BFC39CE5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EA122-F0E3-4EC9-8312-03B53B5A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487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List/download/upload S3 leases and optionally return stored summaries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ACF9E-0EEF-4804-981E-9FFA871D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08658-1D55-4592-9CCA-C56CD0FE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Indexed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82A7F-AA82-47D0-AF69-0871734D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47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EA460-E687-497A-BED5-4761C7A6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57625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/summarise-indexed, /compare-indexed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5FF35-9D02-4D26-9487-CC2207D3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465839-E99B-45CF-9CF0-D3036CE2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87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stored summaries or rebuild lease text from indexed chunks.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EC632B-2B7A-449A-AF40-CE2F65D3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3F2FB4-7F3E-40F9-A755-94DC3194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72BAF2-DBFD-457C-B0C9-1E42DAE4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815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6BD889-DF38-401D-8961-44A24CC8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24375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/rag/index, /rag/index/status, /rag/search, /rag/chat, /rag/evaluate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FB1144-1DC9-4099-9A5A-266DC05B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815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C445FB-CE23-4F6A-BB06-E1B46BE8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487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Index, retrieve, answer, and evaluate grounded RAG behavior.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D151B9-DCBB-4E58-B4CE-726017B1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A8CF78-D6E1-424D-B541-86337368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History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F27F4E-2E7E-4166-9CE9-79D4DA57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482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DA4310-5DED-41A3-B047-32A7B7E4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/rag/chat/sessions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4F8958-6653-4E9E-92F7-58A1EB9D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482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2C9718-E146-4DF8-8D83-99F2E8FF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487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List, load, and delete DynamoDB-backed shared chat sessions.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76BCBB-D4B7-4500-8B15-E8A87024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390B0C-F290-4FDC-9858-A3575885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481861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A78807-B8B8-4738-B226-21C0CD85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why RAG-marker">
            <a:extLst xmlns:a="http://schemas.openxmlformats.org/drawingml/2006/main">
              <a:ext uri="{FF2B5EF4-FFF2-40B4-BE49-F238E27FC236}">
                <a16:creationId xmlns:a16="http://schemas.microsoft.com/office/drawing/2014/main" id="{CC1E361C-135D-454A-86CD-BB02E98B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why RAG-label">
            <a:extLst xmlns:a="http://schemas.openxmlformats.org/drawingml/2006/main">
              <a:ext uri="{FF2B5EF4-FFF2-40B4-BE49-F238E27FC236}">
                <a16:creationId xmlns:a16="http://schemas.microsoft.com/office/drawing/2014/main" id="{8D3F455B-8EAA-4181-B975-B26ECE69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5A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5A9E"/>
                </a:solidFill>
                <a:latin typeface="Aptos"/>
                <a:ea typeface="Aptos"/>
                <a:cs typeface="Aptos"/>
              </a:rPr>
              <a:t>WHY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0DF94-D73B-472B-831E-39054FA3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RAG is used for S3 search and chat, not to replace summary.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C6900-00A8-44C1-B6AF-AD88D8C1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The structured summary pipeline remains the source of summary and comparison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9A50C-19A2-4E34-8EBB-C064EF3F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D9DB6-ABD6-44AA-AD03-266AAEC9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D10FA-C78E-49E0-BB5A-01452A15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97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Question across leases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A40F1-F77D-42D2-B7EF-B561A1F1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971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Users can ask about selected or indexed S3 leases without opening each document manually.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C0B72-E420-4A09-9FDD-BA488729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E2F45-5447-40D4-8D5F-ED2D7F39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F4683-9E72-434D-B60A-2B682D8B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28900"/>
            <a:ext cx="297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Ground answers in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463BC-DB95-427C-8E16-76B8DCFF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52750"/>
            <a:ext cx="2971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Retrieved snippets give the chat model source wording and citations instead of relying on memory.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FCBC1-EB4C-4746-A9FC-7E79AE91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E8E68-8F09-42B2-B0D4-A89896D3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8E134-20C9-41AE-9FF2-02C02407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97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Keep aggregate facts reliable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45EA3-1158-4780-8A13-9067B8AB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2971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Stored summaries answer field and comparison questions deterministically when possible.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91C2E-2E9B-47AD-8C63-E8BBE4CF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9486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E5131-68F8-424D-BE7F-40009FD7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911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Plain English: RAG helps the system look up relevant lease text before answering chat questions.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23F0F-EF66-44C2-8681-08ED3F02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7E53D-AAFA-4206-853B-F455DAC1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777420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C0F7C5-4415-4F07-8AF4-77BF1005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indexing-marker">
            <a:extLst xmlns:a="http://schemas.openxmlformats.org/drawingml/2006/main">
              <a:ext uri="{FF2B5EF4-FFF2-40B4-BE49-F238E27FC236}">
                <a16:creationId xmlns:a16="http://schemas.microsoft.com/office/drawing/2014/main" id="{E361BEA7-FE00-4BF1-8C9E-05EBC18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indexing-label">
            <a:extLst xmlns:a="http://schemas.openxmlformats.org/drawingml/2006/main">
              <a:ext uri="{FF2B5EF4-FFF2-40B4-BE49-F238E27FC236}">
                <a16:creationId xmlns:a16="http://schemas.microsoft.com/office/drawing/2014/main" id="{E29B4F6D-FDCC-42CD-83E0-C110F45A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5A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5A9E"/>
                </a:solidFill>
                <a:latin typeface="Aptos"/>
                <a:ea typeface="Aptos"/>
                <a:cs typeface="Aptos"/>
              </a:rPr>
              <a:t>INDEXING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FA122-202B-4EB5-9C15-5E9EFBDE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Indexing creates chunks for search and summaries for facts.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32EC5-21A9-448F-A0CE-CDAFB9F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One S3 lease becomes two useful context assets.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CD9F2-8295-4417-99D0-1219BA36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B57F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21808-007B-48BC-8418-DB7213DE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D0851-B437-4DF8-B529-4E0D6D9E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S3 leases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B927A-A094-42F4-9910-2DC8D26E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Supported files under configured prefix.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D8977-0D9A-450B-B9DE-E2C850CA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90850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2"/>
          </a:solidFill>
          <a:ln xmlns:a="http://schemas.openxmlformats.org/drawingml/2006/main" w="9525">
            <a:solidFill>
              <a:srgbClr val="1F7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82410-330A-42AC-9803-FFE62104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90850"/>
            <a:ext cx="1676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BA847-CA51-4DEF-B64B-367F99A3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623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Parse/validate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4CB99-B0D7-40D6-A538-C1A8CC34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671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Extract text and enforce 100+ words.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D7995-A1FC-4863-AC3A-C3BE0335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685A9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E0F69-1136-48C1-B1CD-6D303E8A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685C1-A48E-40D0-8160-D1C53098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384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Section chunks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F80BD-4ABB-4F85-987C-660C8E95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4320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Heading-aware split plus overlap.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C3750-0349-4053-9E75-4A2D82B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685A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3B73A-F482-4EE0-9352-73DFFC51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77CAB-8D5F-46B5-9F4B-D368F200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ChromaDB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7DCD0-EF0B-4E97-AD4A-78ED1C6B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Per-file collection for retrieval.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8C5F1-3869-4C4E-9C0B-D4EF658D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243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4E8D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C2E1F-2728-4B0D-AA8A-4AE485FD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243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DB1656-C65A-48ED-9002-1B2574B5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957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Structured summary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B18B28-3E60-494F-9367-7DF9E657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005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Existing summary pipeline runs during indexing.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F0C3B9-23BD-44F6-8F34-451E4C73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243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4E8D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F3110B-7958-4085-AAC1-1929E588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243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ED4ABF-FED6-44B5-86E7-74001DB2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Summary store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0DAA24-32F3-4FFD-8E49-D7B389B8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lease_summaries.json for facts.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23C34F-CCC8-4813-BEC8-8607D3CF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99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30D238-08BE-433B-8EED-E8CEEE53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5752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A6FCC0-80C3-457A-85E7-22A48FDA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0510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7F2451-0E87-453C-80FE-3D3B1C06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409950"/>
            <a:ext cx="19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F0F857-FF6B-49F6-9092-3C720444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A9A70D-D85A-46B7-A0E9-1FD8AF78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247123-C3C2-44E1-B94D-9B960B3C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823670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A4DB66-2FA1-418E-B889-7085F359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chunking-marker">
            <a:extLst xmlns:a="http://schemas.openxmlformats.org/drawingml/2006/main">
              <a:ext uri="{FF2B5EF4-FFF2-40B4-BE49-F238E27FC236}">
                <a16:creationId xmlns:a16="http://schemas.microsoft.com/office/drawing/2014/main" id="{80490DF3-D79F-484D-B9D5-1166F818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chunking-label">
            <a:extLst xmlns:a="http://schemas.openxmlformats.org/drawingml/2006/main">
              <a:ext uri="{FF2B5EF4-FFF2-40B4-BE49-F238E27FC236}">
                <a16:creationId xmlns:a16="http://schemas.microsoft.com/office/drawing/2014/main" id="{F02375DB-5AE1-4097-9357-DEECDA73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5A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5A9E"/>
                </a:solidFill>
                <a:latin typeface="Aptos"/>
                <a:ea typeface="Aptos"/>
                <a:cs typeface="Aptos"/>
              </a:rPr>
              <a:t>CHUNKING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C7D37-9D44-41E2-B7E0-DDEDC56F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Section-aware chunking keeps lease clauses meaningful.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1F81E-EA83-4E28-B8C5-62C59B89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The strategy follows lease structure first, then creates small searchable pieces.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526D0-0CD7-456B-A5C0-64AB5B1C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2686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C476C-A881-41DB-9AA9-8F9F0603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869D3-7307-4733-8C0D-EB63F63E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1. 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0AA26-8A91-4E66-ABC2-842ADD55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Rent is payable monthly on the first day of each month...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37191-57F6-4F9D-BE1D-2999EA73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686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84B6C-5686-4E64-A949-C55753FC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D1A6B-F800-4869-B65D-B9EEDF31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2. Deposit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D8CDD-60CB-4B15-9263-BE3896EF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tenant pays a security deposit before occupation...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AE0B1-60E8-44D8-902F-0DD8A28E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686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3EDF2-D681-4D9F-A295-D95E1D23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05BBA-6792-4EB4-8E35-E21858C8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3. Repairs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6512B-B494-4922-9FDC-791BE1AA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Tenant and landlord repair obligations are described...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203A5-FFE7-4516-8107-8159B546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57650"/>
            <a:ext cx="108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877D1-2983-4981-9FCB-50166DE5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528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D6B78"/>
                </a:solidFill>
                <a:latin typeface="Aptos"/>
                <a:ea typeface="Aptos"/>
                <a:cs typeface="Aptos"/>
              </a:rPr>
              <a:t>detect sections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52CEA9-00FC-4D8C-8909-2A4A07FC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3143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15455-4040-4252-8939-80D33649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476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9E311E-6285-4491-8D0B-2F0E4CDB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Stored chunk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80AF1-7891-4633-A2F7-2D066623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76600"/>
            <a:ext cx="2781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Section: Rent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Text is split with RecursiveCharacterTextSplitter, approximately 300 words with 50 words of overlap. If unavailable, a word-count fallback is used.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C8434E-D668-4DD7-B027-3CA6F9DD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2724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8FEBEA-5E0C-479A-B307-5813685B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476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9BC2C8-3DD4-46E2-AC85-4917A9B9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362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Metadata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1119CC-2194-41F2-9D5B-52055A67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76600"/>
            <a:ext cx="2362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s3_key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filename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chunk_index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section_heading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section_index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section_chunk_index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indexed_at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FD472-A0CC-4536-850D-B9A19E6E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3174B-BD7B-405C-8362-E8CC75D1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58435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1E9980-43BD-43B6-99F5-8AAE29FC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deterministic answers-marker">
            <a:extLst xmlns:a="http://schemas.openxmlformats.org/drawingml/2006/main">
              <a:ext uri="{FF2B5EF4-FFF2-40B4-BE49-F238E27FC236}">
                <a16:creationId xmlns:a16="http://schemas.microsoft.com/office/drawing/2014/main" id="{FC8B80B5-80D0-4D1E-8077-CDD5D8FA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deterministic answers-label">
            <a:extLst xmlns:a="http://schemas.openxmlformats.org/drawingml/2006/main">
              <a:ext uri="{FF2B5EF4-FFF2-40B4-BE49-F238E27FC236}">
                <a16:creationId xmlns:a16="http://schemas.microsoft.com/office/drawing/2014/main" id="{22C0568C-2AD8-427E-8633-DE04B50F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E8D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E8D5B"/>
                </a:solidFill>
                <a:latin typeface="Aptos"/>
                <a:ea typeface="Aptos"/>
                <a:cs typeface="Aptos"/>
              </a:rPr>
              <a:t>DETERMINISTIC ANSWERS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B0D92-7357-414C-8C59-EC1ADB37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Stored summaries make aggregate questions deterministic.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E8D6B-A091-4FAE-8E9B-C3930574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The system answers known lease facts directly when the question maps to extracted fields.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F9A2F-0B97-4853-89DF-4EE8D940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238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2875B-1915-471C-8232-675E3B17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65858-A88B-4EA1-A9A5-3668F70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Exact lookups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E1B46-AA53-483B-B2F5-7A9665FF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876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Tenant, landlord, property address, dates, rent, rent due date, deposit, notice period, obligations, unusual clauses, and plain summary.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EBD4B-89F8-468C-BF69-B06DAFB1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238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DE436-F5FC-4CBD-BCC7-EE16CEC3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5048F-D502-48A5-B2BE-A3DF08C0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289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Normalised comparisons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DF2BC-EB67-4823-9729-78315937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76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Lowest or highest rent/deposit and earliest or latest lease dates use parsed money and date values.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0A080-E634-477E-B73D-EE36B64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3238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EEF8D-0992-478D-BED4-F0557B48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B17C0-C3B2-4127-8FAB-4614E8E6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Fallback 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6BAEC-7E50-4DD4-896A-D05B22A4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876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If summaries are missing or the question is not a recognised lookup, chat uses chunk retrieval and guarded generation.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68A7E-5EC9-4AF6-9819-729A3834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5ECD2-B97C-4DA3-B22D-54D9E665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9675"/>
            <a:ext cx="876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This avoids mistakes where semantic retrieval might miss the cheapest rent or a key date.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530FC-887C-4B8D-BE8C-1E486C73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2D5A12-6F79-4A56-AF46-BBFEE17E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379065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7C72B2-FCBF-4C1E-9860-5628C77E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chat-marker">
            <a:extLst xmlns:a="http://schemas.openxmlformats.org/drawingml/2006/main">
              <a:ext uri="{FF2B5EF4-FFF2-40B4-BE49-F238E27FC236}">
                <a16:creationId xmlns:a16="http://schemas.microsoft.com/office/drawing/2014/main" id="{FB7CC67D-2D4D-4615-BB8A-8A145C43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chat-label">
            <a:extLst xmlns:a="http://schemas.openxmlformats.org/drawingml/2006/main">
              <a:ext uri="{FF2B5EF4-FFF2-40B4-BE49-F238E27FC236}">
                <a16:creationId xmlns:a16="http://schemas.microsoft.com/office/drawing/2014/main" id="{E0188A83-7856-48D6-A4BF-229568C2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4D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4D4D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D5D0F-2AB7-48C3-8B4C-1DDE0A46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Chat combines session history, selected leases, citations, and guardrails.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CBF3C-497C-4803-AF44-F7EC2EC9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The user sees a chat window; the backend performs routing, retrieval, verification, and persistence.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47325-0125-463F-AFF7-80A64622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2"/>
          </a:solidFill>
          <a:ln xmlns:a="http://schemas.openxmlformats.org/drawingml/2006/main" w="9525">
            <a:solidFill>
              <a:srgbClr val="1F7A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8C7D0-8F14-49FA-A56C-FFF32425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62F75-D511-4514-9DBF-82A7946B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DA841-1CD6-4625-9F11-DAD3382A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Current prompt plus prior session history.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05D38-3C1A-4F78-8417-92167AC3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907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B57F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D50E0-552C-48EB-905C-CB434476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90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E3B51-031D-461F-878C-0F7759CC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Selected leases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4DA7E-BF70-4439-A934-6536ED21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Optional S3 key filter from side panel.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B2996-C8FC-4F45-8C5C-FBB493CC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528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9525">
            <a:solidFill>
              <a:srgbClr val="A94D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94599-BFBF-4A8D-967C-BEA21C27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528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9699F-A0BE-4622-8AEC-E7E32962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243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Saved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FD263-E178-43EE-8FAB-6D2FF10A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291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DynamoDB session_id and messages.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21530A-F700-4781-B7CE-C3C073D4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685A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AC2FF-BA8C-4BAD-B1B6-C085CF3A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E93ABA-8FA4-4EE8-8DC2-CB350F74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861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Answer routing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405CF-3720-416A-B8D1-369A149B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909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Summary lookup first, retrieval fallback second.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AFF56C-C8D6-486E-A732-CD7C9C15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4E8D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699DF-85EA-461B-B0EE-5E40759F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6E05D-1567-435C-8EFF-12768C52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Verified response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D270ED-AEA3-45FD-AA6D-E3D9211D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909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Professional answer, citations, warnings, optional RAGAS scores.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BAB1D7-8BE4-461E-A833-3A88ECCC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479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286991-B61C-479F-BF61-38AC7BB7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7185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3F6CC-2900-4F5B-B126-A909402B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4795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DC6FD5-5A05-46D7-A3B1-D77BE17F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7185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B3AE97-044B-443C-AD71-E7C7B034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4C74B1-987C-4BA7-98BA-51E207F8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876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7D94D6-1239-4F5F-98A9-F4D1FAA1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ACC59E-050E-47F6-974D-01A8FA82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91100"/>
            <a:ext cx="840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Guardrail role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FED3DF-9B67-47D8-A943-23233215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14950"/>
            <a:ext cx="8401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model is instructed to stay professional and ignore requests for jokes, sarcasm, roleplay, or ungrounded lease claims.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DE09F6-BC87-432B-92DD-82B953DD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FA6D86-F5C9-4034-BD62-C93D2042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9372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36644C-22A5-4A20-9C08-6101B61F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deployment-marker">
            <a:extLst xmlns:a="http://schemas.openxmlformats.org/drawingml/2006/main">
              <a:ext uri="{FF2B5EF4-FFF2-40B4-BE49-F238E27FC236}">
                <a16:creationId xmlns:a16="http://schemas.microsoft.com/office/drawing/2014/main" id="{A604301C-3A30-4620-87BD-30FC0785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deployment-label">
            <a:extLst xmlns:a="http://schemas.openxmlformats.org/drawingml/2006/main">
              <a:ext uri="{FF2B5EF4-FFF2-40B4-BE49-F238E27FC236}">
                <a16:creationId xmlns:a16="http://schemas.microsoft.com/office/drawing/2014/main" id="{B6E82C75-0D7B-4C9C-8CA4-F6608069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57F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57F2A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572EF-E77A-4A82-94A0-C9BDD8B6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Persistence choices each have one job.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F1425-2722-4A6C-A0AB-DC8784C6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This separation matters for local Docker, ECS, and future scaling.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125E1-2EE1-436B-962B-8D9E24FE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E879F-53E3-4F3A-90CF-DD7CDE8A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60FCF-2F10-4DE5-8BD1-1D9CF3C5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431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A29E4-D0DA-4DA7-823C-C585AD9D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86025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Original source lease files and uploads.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E8380-512B-444D-B620-F5D0C03B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0FDD0-6B77-4ED5-B672-9DC8717B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86025"/>
            <a:ext cx="506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Durable source storage; ECS task role needs ListBucket/GetObject/PutObject.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B1F14-59AF-4CAC-8DE6-804212A3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04C89-38A7-4696-A1E1-960E68D2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ChromaDB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B5036-1A90-42A3-8B91-1C65BA1C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99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63820-2B26-45C1-8EB3-856E76CC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52775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Per-lease vector collections and chunk metadata.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E4F4E-BA6B-40E9-9480-7110D10A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39463-F1A7-4236-A0F2-7B682996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06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Simple local retrieval store; production ECS needs durable volume or managed vector store.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D77FF-AE3D-47EA-BF54-1771575F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46340-7A36-4A75-9046-BCDD16FE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Summary 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783B2-14E2-4E2F-8CB1-FA555056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75E96-D4C9-42CC-B810-984C2D6C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9525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Verified lease-level facts beside Chroma data.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2573FD-B2A8-43C3-A8DE-2A0BC6A5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766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12EC4-7401-44AD-803C-A0E6E8C8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9525"/>
            <a:ext cx="506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Supports fast deterministic answers without re-running retrieval.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4B758A-34F7-490B-801F-E853CE46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E26E38-78FE-46CD-ABCD-84E65957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DynamoDB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815AC9-D523-4066-9FAC-B93AD02F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434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6D28C4-8A19-48D2-A8AC-733D04BC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86275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Shared chat sessions, messages, citations, warnings.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C2E32E-1CEA-4249-BCB4-863D4DAC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4340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DE4B65-B5CD-47E3-ABC0-C9EFCBF3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86275"/>
            <a:ext cx="506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Durable saved history across refreshes and container restarts.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FB5174-FD42-45E3-9169-FCEE848D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87E686-0A11-462E-ACE6-A428DC9B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Azure OpenAI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BE6204-977C-4489-9C06-F2940673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101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84D19E-3275-4D91-9CAA-0533244C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53025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Generation and embedding deployments.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3F6C72-50DA-4AD8-8F5C-1A827F8C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101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1BC845-398E-4188-ACE6-3D654B45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53025"/>
            <a:ext cx="506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Structured extraction, chat, guardrails, and semantic embeddings.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59ABA5-FD46-465D-94F3-D35AB72D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622F24-FDD8-4E48-A9B0-FBCC2899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3328330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07A9DE-50BD-44C5-892A-471DBD82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decisions-marker">
            <a:extLst xmlns:a="http://schemas.openxmlformats.org/drawingml/2006/main">
              <a:ext uri="{FF2B5EF4-FFF2-40B4-BE49-F238E27FC236}">
                <a16:creationId xmlns:a16="http://schemas.microsoft.com/office/drawing/2014/main" id="{6A4A37C1-C493-4465-A276-C386A780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decisions-label">
            <a:extLst xmlns:a="http://schemas.openxmlformats.org/drawingml/2006/main">
              <a:ext uri="{FF2B5EF4-FFF2-40B4-BE49-F238E27FC236}">
                <a16:creationId xmlns:a16="http://schemas.microsoft.com/office/drawing/2014/main" id="{00A30CED-931C-41DF-909A-B43F4601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4ADC1-5096-4BA3-860D-4F5436DC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Design decisions trade speed, grounding, and operational simplicity.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B9D0C-346A-4197-ADE1-8D73EBEE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The choices are conservative because lease facts need predictable handling.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F575D-93AC-4952-B031-B547EF9C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81E5D-BCBD-4378-A8FF-9866732C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6E814-377F-49D5-A0E7-39FF6410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JSON 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3CC91-5A21-4E5E-8B96-2EADB941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Stable response shapes for frontend and tests.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5174C-1F74-444F-BEC9-15EA91F4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B3948-FE82-4275-9E78-E6D94260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05B12-2D12-496D-9518-FA9F2427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1460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DFE75-B277-48E5-9CC0-0D0229E6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384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Ground extraction and chat against source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EFC33-2A89-48A4-B575-03C4E9A7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2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61C5B-692A-45F1-BB77-89AEF50E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51CC1-E563-47EB-ADD5-58B7D793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Separate pages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9D2E1-D13E-4813-9A74-25FC2CDB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 stays simple; S3 gets indexing and chat.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BD321-CD8B-4679-9C0D-774CFEEA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7C209-DD8E-4710-8AD1-7292DE65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DB24D2-2EC2-4787-B69A-A8F6C339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1460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One S3 prefix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74324-69D2-4687-B29E-7FD9413B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384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Avoid arbitrary bucket/key selection risk.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624A18-21AF-437E-97FC-030EBC7B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4EAFB2-E463-464C-9D78-061E5C15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E752F7-5E5D-4E2B-8D9A-A588B0C0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Per-lease Chroma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D6A526-4FF9-481F-88E1-AE163DDA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Selected-lease chat and reconstruction are cleaner.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3D1DB-20BF-4DFE-990F-2ABB6B36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54C2AC-C337-4141-85E3-8D73C978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B09879-E847-49A8-8041-605285A6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Summary store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A99384-F5C1-4629-B030-48DBC9E8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196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Aggregate facts become deterministic.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2D78ED-FDA5-4FEA-97EB-C616CE8D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7B6CAF-39D3-4885-99EA-329822B3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9DEC2A-668D-42F6-8FAA-B3BAD2E0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DynamoDB history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033287-A0EA-48AB-8E86-D5EABC3F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Sessions survive app refresh and container restart.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DDAC4B-2328-41D9-B49F-10D3F09E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243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03537A-FFA8-4A5C-BB8D-53FAE22D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24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7F724E-61FD-470C-90F1-A225B10F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Background index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9702CA-ECFA-4825-A907-63268A36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96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Long indexing avoids API timeout and shows progress.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878C9C-AF68-4872-9C86-87ACC7E3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43D8A3-30F9-45D1-A1B6-FD08D6F6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9169195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3948D9-C521-4F56-BFE2-9086101A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imits-marker">
            <a:extLst xmlns:a="http://schemas.openxmlformats.org/drawingml/2006/main">
              <a:ext uri="{FF2B5EF4-FFF2-40B4-BE49-F238E27FC236}">
                <a16:creationId xmlns:a16="http://schemas.microsoft.com/office/drawing/2014/main" id="{3B606D36-385D-4E45-B5FB-0FF25158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imits-label">
            <a:extLst xmlns:a="http://schemas.openxmlformats.org/drawingml/2006/main">
              <a:ext uri="{FF2B5EF4-FFF2-40B4-BE49-F238E27FC236}">
                <a16:creationId xmlns:a16="http://schemas.microsoft.com/office/drawing/2014/main" id="{C741B05A-97D2-4483-A282-E828266B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4D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4D4D"/>
                </a:solidFill>
                <a:latin typeface="Aptos"/>
                <a:ea typeface="Aptos"/>
                <a:cs typeface="Aptos"/>
              </a:rPr>
              <a:t>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B7A53-D18E-4CD2-B20E-99C2A700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24A"/>
                </a:solidFill>
                <a:latin typeface="Aptos Display"/>
                <a:ea typeface="Aptos Display"/>
                <a:cs typeface="Aptos Display"/>
              </a:rPr>
              <a:t>Known limits are clear and manageable.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DF4A9-57D7-4A59-92B8-294760C3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The codebase surfaces practical constraints rather than hiding them.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28D67-3ABB-4DD2-A269-1D457CEF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D9982-AE73-4CFB-B701-3EF39B2F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D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B4612-3992-4AD2-A24B-BD7B0E1D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Scanned PDFs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C28A4-3996-4BB8-93A3-1A6A78E8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parser handles text-based PDFs. Image-only PDFs need OCR before the app can extract lease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11061-D0B4-4A87-B7E2-D2C0C6B0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3A997-DD72-4D50-B4DD-D66D6E95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EC5BC-211F-4D6E-8B93-FB00F804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Summary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732BB-F29D-4434-A6E5-3D1DDF70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Deterministic answers depend on extracted summaries. Missing or unparseable values are disclosed.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925F2-480D-4219-A7C5-CA7A8FF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C6421-B938-4F47-A38D-2D06EC25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A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BAB66-DDB4-40E6-A85E-A0D3B2AD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Chroma persistence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4784F-5A6E-4F63-BABF-5AE2174E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Docker Compose uses a volume; ECS needs a durable storage strategy if tasks are replaced or scaled.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0D2B6-7687-45F2-8376-C7BA0EBF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6720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2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9085C-57DC-47CE-A5F1-8EEDD968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672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68419-62C9-44AE-B68A-654BD1FE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386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Shared chat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ECC7A-A411-48F1-9011-44A86850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625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There is no user login in the current codebase, so DynamoDB chat sessions are shared app-wide.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ADDEAC-A95F-4ACD-BF7B-A89FBF96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095A5-2347-41C2-98EF-573FFF43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8B27D-2ECC-43CB-A352-BC554E4F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386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Cost and latency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4C2B95-430C-4AA9-B757-B4671A89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62500"/>
            <a:ext cx="2781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Indexing can run summaries plus embeddings for many leases, so background progress and monitoring matter.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22E356-57B5-47A0-AA66-60B2A364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3ADD3A-CB7B-4193-932A-CA2CCD96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1657712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188DD0-5855-41C9-8467-AF0815A6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334E0-0460-4D98-95B0-E99B4E33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33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next work is production hardening and operating discipline.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1D80C-2459-404E-B070-868443AA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5E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E0"/>
                </a:solidFill>
                <a:latin typeface="Aptos"/>
                <a:ea typeface="Aptos"/>
                <a:cs typeface="Aptos"/>
              </a:rPr>
              <a:t>The architecture is already separated enough to explain and operate; the main remaining questions are environment, durability, and monitoring.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7D764-927F-40F4-B0DB-E5493237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2571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58"/>
          </a:solidFill>
          <a:ln xmlns:a="http://schemas.openxmlformats.org/drawingml/2006/main" w="9525">
            <a:solidFill>
              <a:srgbClr val="2D53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2B4C1-F02A-4F14-80D2-5F44F0CE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A"/>
          </a:solidFill>
          <a:ln xmlns:a="http://schemas.openxmlformats.org/drawingml/2006/main" w="9525">
            <a:solidFill>
              <a:srgbClr val="685A9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6D125-7030-454F-8141-CD7B24F1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85A9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85A9E"/>
                </a:solidFill>
                <a:latin typeface="Aptos"/>
                <a:ea typeface="Aptos"/>
                <a:cs typeface="Aptos"/>
              </a:rPr>
              <a:t>Persist Chroma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251F5-E110-4F4B-B0F7-1C28A191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Choose EFS or a managed vector store for ECS scaling.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921C6-1503-4439-AE5F-4ADD1B3F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2571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58"/>
          </a:solidFill>
          <a:ln xmlns:a="http://schemas.openxmlformats.org/drawingml/2006/main" w="9525">
            <a:solidFill>
              <a:srgbClr val="2D53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437D8-27AD-4E20-895E-95FC5FC2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B57F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9ACD7-60FC-4CA6-A2A3-3BA3BA7D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57F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57F2A"/>
                </a:solidFill>
                <a:latin typeface="Aptos"/>
                <a:ea typeface="Aptos"/>
                <a:cs typeface="Aptos"/>
              </a:rPr>
              <a:t>Lock permissions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4C016-4CAD-4DF9-8FF5-060406BB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Least-privilege S3, DynamoDB, and Secrets Manager access.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994CB-BA24-4667-93B1-C66CE966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2571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58"/>
          </a:solidFill>
          <a:ln xmlns:a="http://schemas.openxmlformats.org/drawingml/2006/main" w="9525">
            <a:solidFill>
              <a:srgbClr val="2D53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1BB32-4944-4421-BA6C-20F554B8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4E8D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BF259-1F42-463B-A210-A79DE8F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E8D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E8D5B"/>
                </a:solidFill>
                <a:latin typeface="Aptos"/>
                <a:ea typeface="Aptos"/>
                <a:cs typeface="Aptos"/>
              </a:rPr>
              <a:t>Monitor indexing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C3322-9B09-45D8-9A24-7B51D7D3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90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Track cost, failures, progress, and summary quality.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62897-B7E9-4C69-8AC1-16A78D1A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43250"/>
            <a:ext cx="2571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58"/>
          </a:solidFill>
          <a:ln xmlns:a="http://schemas.openxmlformats.org/drawingml/2006/main" w="9525">
            <a:solidFill>
              <a:srgbClr val="2D53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751E2-3809-40BD-B1D6-36F143F9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9525">
            <a:solidFill>
              <a:srgbClr val="A94D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18DFC-8430-4801-B4B3-05E019C6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0042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A94D4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94D4D"/>
                </a:solidFill>
                <a:latin typeface="Aptos"/>
                <a:ea typeface="Aptos"/>
                <a:cs typeface="Aptos"/>
              </a:rPr>
              <a:t>Handle OCR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6EDEF-5AC4-411E-A9A6-F747FC54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Add an OCR path if scanned leases become common.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C4734-5618-4C6B-BE2D-549C807A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639"/>
          </a:solidFill>
          <a:ln xmlns:a="http://schemas.openxmlformats.org/drawingml/2006/main" w="9525">
            <a:solidFill>
              <a:srgbClr val="2D53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98E66-2711-478C-ABC0-700238DB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1005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Takeaway: the system is designed to be explainable, grounded, and practical for real lease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11BA3-03D8-476F-AA66-DE8F1E4F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7D0D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7D0D9"/>
                </a:solidFill>
                <a:latin typeface="Aptos"/>
                <a:ea typeface="Aptos"/>
                <a:cs typeface="Aptos"/>
              </a:rPr>
              <a:t>Source: current codebase only; Project Specification.md ignored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B2CBB-585C-4FE5-AF35-5E82E384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C7D0D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7D0D9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30721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2026-06-14T10:35:40.4320000Z</dcterms:created>
  <dcterms:modified xsi:type="dcterms:W3CDTF">2026-06-14T10:35:40.4320000Z</dcterms:modified>
</coreProperties>
</file>