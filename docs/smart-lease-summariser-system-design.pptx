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01d7bc1f41414f" /><Relationship Type="http://schemas.openxmlformats.org/officeDocument/2006/relationships/extended-properties" Target="/docProps/app.xml" Id="R5fba5ff6999d44c1" /><Relationship Type="http://schemas.openxmlformats.org/officeDocument/2006/relationships/officeDocument" Target="/ppt/presentation.xml" Id="Rb775deeb1b2941b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40a110de70b4509"/>
  </p:sldMasterIdLst>
  <p:notesMasterIdLst>
    <p:notesMasterId xmlns:r="http://schemas.openxmlformats.org/officeDocument/2006/relationships" r:id="Rdd67648fb0494b2b"/>
  </p:notesMasterIdLst>
  <p:sldIdLst>
    <p:sldId xmlns:r="http://schemas.openxmlformats.org/officeDocument/2006/relationships" id="256" r:id="R77af0c7876564bb1"/>
    <p:sldId xmlns:r="http://schemas.openxmlformats.org/officeDocument/2006/relationships" id="257" r:id="Rf8f7b8c8e24e44c7"/>
    <p:sldId xmlns:r="http://schemas.openxmlformats.org/officeDocument/2006/relationships" id="258" r:id="R7142b7a54e3f499c"/>
    <p:sldId xmlns:r="http://schemas.openxmlformats.org/officeDocument/2006/relationships" id="259" r:id="R111485f249d04fb0"/>
    <p:sldId xmlns:r="http://schemas.openxmlformats.org/officeDocument/2006/relationships" id="260" r:id="Rdb142cce87564711"/>
    <p:sldId xmlns:r="http://schemas.openxmlformats.org/officeDocument/2006/relationships" id="261" r:id="Rc16aa26d744a423a"/>
    <p:sldId xmlns:r="http://schemas.openxmlformats.org/officeDocument/2006/relationships" id="262" r:id="Rd8d688d13f1e4818"/>
    <p:sldId xmlns:r="http://schemas.openxmlformats.org/officeDocument/2006/relationships" id="263" r:id="Rfa365cbaee0144ba"/>
    <p:sldId xmlns:r="http://schemas.openxmlformats.org/officeDocument/2006/relationships" id="264" r:id="R98b5ffe7baae418b"/>
    <p:sldId xmlns:r="http://schemas.openxmlformats.org/officeDocument/2006/relationships" id="265" r:id="R38d3e5bdc2864324"/>
    <p:sldId xmlns:r="http://schemas.openxmlformats.org/officeDocument/2006/relationships" id="266" r:id="Ra6ef3f4ea6d140c3"/>
    <p:sldId xmlns:r="http://schemas.openxmlformats.org/officeDocument/2006/relationships" id="267" r:id="Rc8013104452a464f"/>
    <p:sldId xmlns:r="http://schemas.openxmlformats.org/officeDocument/2006/relationships" id="268" r:id="R59020b81d7184de2"/>
    <p:sldId xmlns:r="http://schemas.openxmlformats.org/officeDocument/2006/relationships" id="269" r:id="R5d294bca93b540cc"/>
    <p:sldId xmlns:r="http://schemas.openxmlformats.org/officeDocument/2006/relationships" id="270" r:id="Rb9e58f28ce604cc1"/>
    <p:sldId xmlns:r="http://schemas.openxmlformats.org/officeDocument/2006/relationships" id="271" r:id="Rd15e4da7352e45d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0a110de70b4509" /><Relationship Type="http://schemas.openxmlformats.org/officeDocument/2006/relationships/theme" Target="/ppt/theme/theme1.xml" Id="R0b11c483e2544aba" /><Relationship Type="http://schemas.openxmlformats.org/officeDocument/2006/relationships/notesMaster" Target="/ppt/notesMasters/notesMaster1.xml" Id="Rdd67648fb0494b2b" /><Relationship Type="http://schemas.openxmlformats.org/officeDocument/2006/relationships/presProps" Target="/ppt/presProps.xml" Id="R8df32966b3674975" /><Relationship Type="http://schemas.openxmlformats.org/officeDocument/2006/relationships/viewProps" Target="/ppt/viewProps.xml" Id="R4e991fc412ef485c" /><Relationship Type="http://schemas.openxmlformats.org/officeDocument/2006/relationships/tableStyles" Target="/ppt/tableStyles.xml" Id="R24cf82416b704852" /><Relationship Type="http://schemas.openxmlformats.org/officeDocument/2006/relationships/slide" Target="/ppt/slides/slide1.xml" Id="R77af0c7876564bb1" /><Relationship Type="http://schemas.openxmlformats.org/officeDocument/2006/relationships/slide" Target="/ppt/slides/slide2.xml" Id="Rf8f7b8c8e24e44c7" /><Relationship Type="http://schemas.openxmlformats.org/officeDocument/2006/relationships/slide" Target="/ppt/slides/slide3.xml" Id="R7142b7a54e3f499c" /><Relationship Type="http://schemas.openxmlformats.org/officeDocument/2006/relationships/slide" Target="/ppt/slides/slide4.xml" Id="R111485f249d04fb0" /><Relationship Type="http://schemas.openxmlformats.org/officeDocument/2006/relationships/slide" Target="/ppt/slides/slide5.xml" Id="Rdb142cce87564711" /><Relationship Type="http://schemas.openxmlformats.org/officeDocument/2006/relationships/slide" Target="/ppt/slides/slide6.xml" Id="Rc16aa26d744a423a" /><Relationship Type="http://schemas.openxmlformats.org/officeDocument/2006/relationships/slide" Target="/ppt/slides/slide7.xml" Id="Rd8d688d13f1e4818" /><Relationship Type="http://schemas.openxmlformats.org/officeDocument/2006/relationships/slide" Target="/ppt/slides/slide8.xml" Id="Rfa365cbaee0144ba" /><Relationship Type="http://schemas.openxmlformats.org/officeDocument/2006/relationships/slide" Target="/ppt/slides/slide9.xml" Id="R98b5ffe7baae418b" /><Relationship Type="http://schemas.openxmlformats.org/officeDocument/2006/relationships/slide" Target="/ppt/slides/slide10.xml" Id="R38d3e5bdc2864324" /><Relationship Type="http://schemas.openxmlformats.org/officeDocument/2006/relationships/slide" Target="/ppt/slides/slide11.xml" Id="Ra6ef3f4ea6d140c3" /><Relationship Type="http://schemas.openxmlformats.org/officeDocument/2006/relationships/slide" Target="/ppt/slides/slide12.xml" Id="Rc8013104452a464f" /><Relationship Type="http://schemas.openxmlformats.org/officeDocument/2006/relationships/slide" Target="/ppt/slides/slide13.xml" Id="R59020b81d7184de2" /><Relationship Type="http://schemas.openxmlformats.org/officeDocument/2006/relationships/slide" Target="/ppt/slides/slide14.xml" Id="R5d294bca93b540cc" /><Relationship Type="http://schemas.openxmlformats.org/officeDocument/2006/relationships/slide" Target="/ppt/slides/slide15.xml" Id="Rb9e58f28ce604cc1" /><Relationship Type="http://schemas.openxmlformats.org/officeDocument/2006/relationships/slide" Target="/ppt/slides/slide16.xml" Id="Rd15e4da7352e45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2f749373150488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0b4be024f84861" /><Relationship Type="http://schemas.openxmlformats.org/officeDocument/2006/relationships/notesMaster" Target="/ppt/notesMasters/notesMaster1.xml" Id="R15795d182429413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335e0c45acb44b5" /><Relationship Type="http://schemas.openxmlformats.org/officeDocument/2006/relationships/notesMaster" Target="/ppt/notesMasters/notesMaster1.xml" Id="R761162ee950841e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1026878453741a0" /><Relationship Type="http://schemas.openxmlformats.org/officeDocument/2006/relationships/notesMaster" Target="/ppt/notesMasters/notesMaster1.xml" Id="Rc6bc86e6c866490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eb1040857b349bd" /><Relationship Type="http://schemas.openxmlformats.org/officeDocument/2006/relationships/notesMaster" Target="/ppt/notesMasters/notesMaster1.xml" Id="R509f0aacaaa3468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0ee73dc09a545b2" /><Relationship Type="http://schemas.openxmlformats.org/officeDocument/2006/relationships/notesMaster" Target="/ppt/notesMasters/notesMaster1.xml" Id="R34130cb8af5a44d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d5b0aba85fd4ed3" /><Relationship Type="http://schemas.openxmlformats.org/officeDocument/2006/relationships/notesMaster" Target="/ppt/notesMasters/notesMaster1.xml" Id="Rf85a62dffe6e44a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4eb0b104c9040f7" /><Relationship Type="http://schemas.openxmlformats.org/officeDocument/2006/relationships/notesMaster" Target="/ppt/notesMasters/notesMaster1.xml" Id="Rafb3d5a69ddd490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f59bedfa0364795" /><Relationship Type="http://schemas.openxmlformats.org/officeDocument/2006/relationships/notesMaster" Target="/ppt/notesMasters/notesMaster1.xml" Id="R5538253b2486462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ae4debd1c6c463b" /><Relationship Type="http://schemas.openxmlformats.org/officeDocument/2006/relationships/notesMaster" Target="/ppt/notesMasters/notesMaster1.xml" Id="Rf763c7b1c583428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909f329f4b54cdb" /><Relationship Type="http://schemas.openxmlformats.org/officeDocument/2006/relationships/notesMaster" Target="/ppt/notesMasters/notesMaster1.xml" Id="R317480e8a29d4eb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f8caaec497b4800" /><Relationship Type="http://schemas.openxmlformats.org/officeDocument/2006/relationships/notesMaster" Target="/ppt/notesMasters/notesMaster1.xml" Id="Rf88ea1454331490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5395dfb7e4c4faf" /><Relationship Type="http://schemas.openxmlformats.org/officeDocument/2006/relationships/notesMaster" Target="/ppt/notesMasters/notesMaster1.xml" Id="Rbebe948fd9a541b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a1cb4edc5534884" /><Relationship Type="http://schemas.openxmlformats.org/officeDocument/2006/relationships/notesMaster" Target="/ppt/notesMasters/notesMaster1.xml" Id="R1915c3743b7b414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b83a09d531d475d" /><Relationship Type="http://schemas.openxmlformats.org/officeDocument/2006/relationships/notesMaster" Target="/ppt/notesMasters/notesMaster1.xml" Id="R6ac5f127d473477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354e4dc889344d1" /><Relationship Type="http://schemas.openxmlformats.org/officeDocument/2006/relationships/notesMaster" Target="/ppt/notesMasters/notesMaster1.xml" Id="Rd7ff86ba946744b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79671cfa85042d7" /><Relationship Type="http://schemas.openxmlformats.org/officeDocument/2006/relationships/notesMaster" Target="/ppt/notesMasters/notesMaster1.xml" Id="R59f9cb00a6e444a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b6a95550b44bbd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9ba3aea744b6415f" /><Relationship Type="http://schemas.openxmlformats.org/officeDocument/2006/relationships/slideLayout" Target="/ppt/slideLayouts/slideLayout2.xml" Id="Rf1431b130f4b422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1431b130f4b422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9cdb31043f44253" /><Relationship Type="http://schemas.openxmlformats.org/officeDocument/2006/relationships/notesSlide" Target="/ppt/notesSlides/notesSlide1.xml" Id="Rd0a11e80471842c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2cf66b2573c4222" /><Relationship Type="http://schemas.openxmlformats.org/officeDocument/2006/relationships/notesSlide" Target="/ppt/notesSlides/notesSlide2.xml" Id="Ra36673c143d744b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acde7d0f65a4107" /><Relationship Type="http://schemas.openxmlformats.org/officeDocument/2006/relationships/notesSlide" Target="/ppt/notesSlides/notesSlide3.xml" Id="R4d88d65e1f58436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ce341130f2743c1" /><Relationship Type="http://schemas.openxmlformats.org/officeDocument/2006/relationships/notesSlide" Target="/ppt/notesSlides/notesSlide4.xml" Id="R4e48e0388f80435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ced31eaa4524871" /><Relationship Type="http://schemas.openxmlformats.org/officeDocument/2006/relationships/notesSlide" Target="/ppt/notesSlides/notesSlide5.xml" Id="Rdd5034744b904c9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3d87708f00044e6" /><Relationship Type="http://schemas.openxmlformats.org/officeDocument/2006/relationships/notesSlide" Target="/ppt/notesSlides/notesSlide6.xml" Id="R17e6ca0358fd445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b688670288c442a" /><Relationship Type="http://schemas.openxmlformats.org/officeDocument/2006/relationships/notesSlide" Target="/ppt/notesSlides/notesSlide7.xml" Id="R42af716997ba4e2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880f79978ec45e3" /><Relationship Type="http://schemas.openxmlformats.org/officeDocument/2006/relationships/notesSlide" Target="/ppt/notesSlides/notesSlide8.xml" Id="R12b172d7560a431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2989ae84e754560" /><Relationship Type="http://schemas.openxmlformats.org/officeDocument/2006/relationships/notesSlide" Target="/ppt/notesSlides/notesSlide9.xml" Id="Ra7757aa07fa949a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c9f04c10d7549c9" /><Relationship Type="http://schemas.openxmlformats.org/officeDocument/2006/relationships/notesSlide" Target="/ppt/notesSlides/notesSlide10.xml" Id="R5aa84b2bf8b64ad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dd04ae32af44c0a" /><Relationship Type="http://schemas.openxmlformats.org/officeDocument/2006/relationships/notesSlide" Target="/ppt/notesSlides/notesSlide11.xml" Id="Rc00b663bb3794d8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0254d8070b84a54" /><Relationship Type="http://schemas.openxmlformats.org/officeDocument/2006/relationships/notesSlide" Target="/ppt/notesSlides/notesSlide12.xml" Id="R96ecdab8c33848f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4c5df4a5f8f4dfe" /><Relationship Type="http://schemas.openxmlformats.org/officeDocument/2006/relationships/notesSlide" Target="/ppt/notesSlides/notesSlide13.xml" Id="R4959a96008e04fb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6e75f259ec248e1" /><Relationship Type="http://schemas.openxmlformats.org/officeDocument/2006/relationships/notesSlide" Target="/ppt/notesSlides/notesSlide14.xml" Id="R49ad89f3f2f940d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3949aafe8d64376" /><Relationship Type="http://schemas.openxmlformats.org/officeDocument/2006/relationships/notesSlide" Target="/ppt/notesSlides/notesSlide15.xml" Id="Rf640b5f8db334b5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40b55896dd14511" /><Relationship Type="http://schemas.openxmlformats.org/officeDocument/2006/relationships/notesSlide" Target="/ppt/notesSlides/notesSlide16.xml" Id="Rc37d5b4a95db496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2B1903-EF1D-43E1-A052-7001300C0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180051-1221-454C-8577-E6871C14F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7DF"/>
          </a:solidFill>
          <a:ln xmlns:a="http://schemas.openxmlformats.org/drawingml/2006/main" w="0">
            <a:solidFill>
              <a:srgbClr val="D7E7DF"/>
            </a:solidFill>
            <a:prstDash val="solid"/>
          </a:ln>
        </p:spPr>
      </p:sp>
      <p:sp>
        <p:nvSpPr>
          <p:cNvPr id="3" name="kicker-system-design">
            <a:extLst xmlns:a="http://schemas.openxmlformats.org/drawingml/2006/main">
              <a:ext uri="{FF2B5EF4-FFF2-40B4-BE49-F238E27FC236}">
                <a16:creationId xmlns:a16="http://schemas.microsoft.com/office/drawing/2014/main" id="{BF5EB9E6-387B-4A35-B032-88FAC8E0E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61975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7E7D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D7E7DF"/>
                </a:solidFill>
                <a:latin typeface="Aptos Mono"/>
                <a:ea typeface="Aptos Mono"/>
                <a:cs typeface="Aptos Mono"/>
              </a:rPr>
              <a:t>SYSTEM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9E66CA-4CAA-44A0-B99E-C16694BD0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6858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Smart Lease Summariser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B8AB5C-08AD-4D55-BB9C-CB55807C7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81200"/>
            <a:ext cx="6572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7E7D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7E7DF"/>
                </a:solidFill>
                <a:latin typeface="Aptos"/>
                <a:ea typeface="Aptos"/>
                <a:cs typeface="Aptos"/>
              </a:rPr>
              <a:t>A containerised Azure OpenAI service for grounded lease extraction, guardrail verification, document upload, and structured comparison.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2F1EA3-E485-4472-A6A8-1C63C7CDF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2381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19050">
            <a:solidFill>
              <a:srgbClr val="2F6F5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D1B870-0191-4B52-929D-9812B3259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67125"/>
            <a:ext cx="2038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F6F5E"/>
                </a:solidFill>
                <a:latin typeface="Aptos Mono"/>
                <a:ea typeface="Aptos Mono"/>
                <a:cs typeface="Aptos Mono"/>
              </a:defRPr>
            </a:pPr>
            <a:r>
              <a:rPr sz="2100" b="1">
                <a:solidFill>
                  <a:srgbClr val="2F6F5E"/>
                </a:solidFill>
                <a:latin typeface="Aptos Mono"/>
                <a:ea typeface="Aptos Mono"/>
                <a:cs typeface="Aptos Mono"/>
              </a:rPr>
              <a:t>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ADE19C-C0BF-4509-9C77-3DCD92BA0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1955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1D5D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1D5DB"/>
                </a:solidFill>
                <a:latin typeface="Aptos"/>
                <a:ea typeface="Aptos"/>
                <a:cs typeface="Aptos"/>
              </a:rPr>
              <a:t>API endpoints: document and text variants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6F38FC-5872-4803-8724-D4BCD6BAB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24250"/>
            <a:ext cx="2381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19050">
            <a:solidFill>
              <a:srgbClr val="2E5B8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1AA159-2216-4176-9DA5-45FFF1A3F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667125"/>
            <a:ext cx="2038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E5B8A"/>
                </a:solidFill>
                <a:latin typeface="Aptos Mono"/>
                <a:ea typeface="Aptos Mono"/>
                <a:cs typeface="Aptos Mono"/>
              </a:defRPr>
            </a:pPr>
            <a:r>
              <a:rPr sz="2100" b="1">
                <a:solidFill>
                  <a:srgbClr val="2E5B8A"/>
                </a:solidFill>
                <a:latin typeface="Aptos Mono"/>
                <a:ea typeface="Aptos Mono"/>
                <a:cs typeface="Aptos Mono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FE82B2-37C6-47A5-855A-4DEC83211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01955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1D5D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1D5DB"/>
                </a:solidFill>
                <a:latin typeface="Aptos"/>
                <a:ea typeface="Aptos"/>
                <a:cs typeface="Aptos"/>
              </a:rPr>
              <a:t>document formats: TXT, PDF, DOCX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03E087-E7FC-4480-A0D2-AAD6E0C7E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24250"/>
            <a:ext cx="2381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19050">
            <a:solidFill>
              <a:srgbClr val="C57B2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6FB65E-6819-4B5C-BB9B-90763612A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67125"/>
            <a:ext cx="2038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57B21"/>
                </a:solidFill>
                <a:latin typeface="Aptos Mono"/>
                <a:ea typeface="Aptos Mono"/>
                <a:cs typeface="Aptos Mono"/>
              </a:defRPr>
            </a:pPr>
            <a:r>
              <a:rPr sz="2100" b="1">
                <a:solidFill>
                  <a:srgbClr val="C57B21"/>
                </a:solidFill>
                <a:latin typeface="Aptos Mono"/>
                <a:ea typeface="Aptos Mono"/>
                <a:cs typeface="Aptos Mono"/>
              </a:rPr>
              <a:t>2+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71FE94-2D43-4041-A7F0-5BBCF32FD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1955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1D5D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1D5DB"/>
                </a:solidFill>
                <a:latin typeface="Aptos"/>
                <a:ea typeface="Aptos"/>
                <a:cs typeface="Aptos"/>
              </a:rPr>
              <a:t>LLM flows: extract, verify, compare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4A0B9E-3020-4157-87AB-FCDADC00A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24250"/>
            <a:ext cx="2381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19050">
            <a:solidFill>
              <a:srgbClr val="6E5A8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4C80F0-47D0-47F4-8F26-88A2FD08B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667125"/>
            <a:ext cx="2038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5A8A"/>
                </a:solidFill>
                <a:latin typeface="Aptos Mono"/>
                <a:ea typeface="Aptos Mono"/>
                <a:cs typeface="Aptos Mono"/>
              </a:defRPr>
            </a:pPr>
            <a:r>
              <a:rPr sz="2100" b="1">
                <a:solidFill>
                  <a:srgbClr val="6E5A8A"/>
                </a:solidFill>
                <a:latin typeface="Aptos Mono"/>
                <a:ea typeface="Aptos Mono"/>
                <a:cs typeface="Aptos Mono"/>
              </a:rPr>
              <a:t>12/12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FE009C-EB31-4A42-9BE9-474DAF891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01955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1D5D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1D5DB"/>
                </a:solidFill>
                <a:latin typeface="Aptos"/>
                <a:ea typeface="Aptos"/>
                <a:cs typeface="Aptos"/>
              </a:rPr>
              <a:t>mocked tests passing with summary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B3B582-0613-428D-8A40-F100B3239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219200"/>
            <a:ext cx="37147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2F6F5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95D716-8CB4-45A2-86D3-AAF5F2628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362075"/>
            <a:ext cx="3371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Thesis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3EC5AD-39D0-472B-9471-226F8CFD2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733550"/>
            <a:ext cx="33718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E7D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7E7DF"/>
                </a:solidFill>
                <a:latin typeface="Aptos"/>
                <a:ea typeface="Aptos"/>
                <a:cs typeface="Aptos"/>
              </a:rPr>
              <a:t>The project moves from a prompt-engineering exercise into an operational lease intelligence service with validation, grounded JSON, Docker deployment, and a guardrail-first user experience.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F0B20B-8C67-4AB6-A3F5-600BF248D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7C0"/>
          </a:solidFill>
          <a:ln xmlns:a="http://schemas.openxmlformats.org/drawingml/2006/main" w="0">
            <a:solidFill>
              <a:srgbClr val="BAC7C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FDFF62-FEE2-4B8A-8C67-29E76CD6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742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AC7C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BAC7C0"/>
                </a:solidFill>
                <a:latin typeface="Aptos"/>
                <a:ea typeface="Aptos"/>
                <a:cs typeface="Aptos"/>
              </a:rPr>
              <a:t>Smart Lease Summariser | Project specification and implementation evidence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EB550E-EBF1-4B56-AF8D-E06BB8E65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BAC7C0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BAC7C0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5112114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84B7E0-C51B-4CD0-8B86-ADB74FFB7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F43BF5-8EB1-4037-B4A5-0F9280231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E"/>
          </a:solidFill>
          <a:ln xmlns:a="http://schemas.openxmlformats.org/drawingml/2006/main" w="0">
            <a:solidFill>
              <a:srgbClr val="2F6F5E"/>
            </a:solidFill>
            <a:prstDash val="solid"/>
          </a:ln>
        </p:spPr>
      </p:sp>
      <p:sp>
        <p:nvSpPr>
          <p:cNvPr id="3" name="kicker-problem">
            <a:extLst xmlns:a="http://schemas.openxmlformats.org/drawingml/2006/main">
              <a:ext uri="{FF2B5EF4-FFF2-40B4-BE49-F238E27FC236}">
                <a16:creationId xmlns:a16="http://schemas.microsoft.com/office/drawing/2014/main" id="{5D0AC789-4CFF-4702-AF98-0EFCCAF5E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61975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6F5E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2F6F5E"/>
                </a:solidFill>
                <a:latin typeface="Aptos Mono"/>
                <a:ea typeface="Aptos Mono"/>
                <a:cs typeface="Aptos Mono"/>
              </a:rPr>
              <a:t>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3541AE-0F54-4E25-91AA-3B295A7B2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86677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Lease review is an operational bottleneck, not just a reading task.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8A156D-24D9-4F9F-A7B1-E50EE47B3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Property managers need dates, amounts, obligations, and unusual clauses without reading dense agreements end to end.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7163E9-7141-48EA-B8F5-F16A629B5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30480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F5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9745A3-047E-4329-8612-F0F2761E3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76625"/>
            <a:ext cx="2705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Property manager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B3B049-80DB-4F87-AD97-86E65D7B2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270510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Needs fast triage across hundreds of leases each month.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A60F96-DF7F-4A80-9F47-3D9EE239B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333750"/>
            <a:ext cx="30480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E5B8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D9EDD9-0807-42AE-9418-BE769F94D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476625"/>
            <a:ext cx="2705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Landlord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46EAF6-7BCD-4B9A-9DBF-6ED25DE9E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848100"/>
            <a:ext cx="270510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Needs obligations, access notice, deposit, and risk-bearing clauses.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B99CCA-A6AF-4DA3-B7A7-9D254973B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33750"/>
            <a:ext cx="30480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57B2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975AEB-8ED8-4C3A-95B0-6C85BA0E0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76625"/>
            <a:ext cx="2705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Tenant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A1D33A-BF92-4B6B-B152-19A199309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848100"/>
            <a:ext cx="270510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Needs plain-English restrictions and practical impact before signing.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94ECF7-1EFC-46C3-854D-50FD2F741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000500"/>
            <a:ext cx="619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0B3"/>
          </a:solidFill>
          <a:ln xmlns:a="http://schemas.openxmlformats.org/drawingml/2006/main" w="0">
            <a:solidFill>
              <a:srgbClr val="C9C0B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D875C8-CC9F-4C56-BBC0-223CF7253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000500"/>
            <a:ext cx="619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0B3"/>
          </a:solidFill>
          <a:ln xmlns:a="http://schemas.openxmlformats.org/drawingml/2006/main" w="0">
            <a:solidFill>
              <a:srgbClr val="C9C0B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627A53-CAC6-4C48-A3D2-6E0C7B001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91125"/>
            <a:ext cx="914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Specification signal: leases are 15-40 pages, legally dense, and need structured plain-English output for non-lawyers.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F6E53A-3986-4154-8FC9-4D20AA935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7280"/>
          </a:solidFill>
          <a:ln xmlns:a="http://schemas.openxmlformats.org/drawingml/2006/main" w="0">
            <a:solidFill>
              <a:srgbClr val="6B728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FB6905-403A-4325-A6AB-1A770E253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742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Smart Lease Summariser | Project specification and implementation 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6AAD36-EC60-4B4F-B086-10079F8F8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B7280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2345119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D7C942-6B7F-4F1D-BAFB-87301747B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F7890C-9758-400B-904A-3128ACA43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E"/>
          </a:solidFill>
          <a:ln xmlns:a="http://schemas.openxmlformats.org/drawingml/2006/main" w="0">
            <a:solidFill>
              <a:srgbClr val="2F6F5E"/>
            </a:solidFill>
            <a:prstDash val="solid"/>
          </a:ln>
        </p:spPr>
      </p:sp>
      <p:sp>
        <p:nvSpPr>
          <p:cNvPr id="3" name="kicker-specification">
            <a:extLst xmlns:a="http://schemas.openxmlformats.org/drawingml/2006/main">
              <a:ext uri="{FF2B5EF4-FFF2-40B4-BE49-F238E27FC236}">
                <a16:creationId xmlns:a16="http://schemas.microsoft.com/office/drawing/2014/main" id="{40DFE815-BC3C-40CE-B9F2-DCA85815C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61975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6F5E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2F6F5E"/>
                </a:solidFill>
                <a:latin typeface="Aptos Mono"/>
                <a:ea typeface="Aptos Mono"/>
                <a:cs typeface="Aptos Mono"/>
              </a:rPr>
              <a:t>SPECIFICATION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DBCDF9-0196-4953-A3CA-B67784114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86677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The assignment is a grounded extraction system with clear failure behavior.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CD27DE-031A-436C-A65A-22A7456FA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The implementation maps every project constraint to a concrete API, model, prompt, or deployment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F2E105-BAB0-4BAD-BA15-2E84C1D8B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30003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F5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A32A1B-BB6F-49A6-9A20-65F6F2C04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86125"/>
            <a:ext cx="26574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6F5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F6F5E"/>
                </a:solidFill>
                <a:latin typeface="Aptos"/>
                <a:ea typeface="Aptos"/>
                <a:cs typeface="Aptos"/>
              </a:rPr>
              <a:t>Extract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81D56C-B723-4958-B908-A29CE83B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004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E"/>
          </a:solidFill>
          <a:ln xmlns:a="http://schemas.openxmlformats.org/drawingml/2006/main" w="0">
            <a:solidFill>
              <a:srgbClr val="2F6F5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11CB06-87B3-4BDD-9386-5A79F5283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14750"/>
            <a:ext cx="2266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tenant / landlord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69CE93-980C-4AFC-9FF1-BA01A0159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624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E"/>
          </a:solidFill>
          <a:ln xmlns:a="http://schemas.openxmlformats.org/drawingml/2006/main" w="0">
            <a:solidFill>
              <a:srgbClr val="2F6F5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265132-6C26-4248-98E1-FDE2ED7D0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76700"/>
            <a:ext cx="2266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property address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756D81-DDCE-4B85-8809-8A6B7E2C2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24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E"/>
          </a:solidFill>
          <a:ln xmlns:a="http://schemas.openxmlformats.org/drawingml/2006/main" w="0">
            <a:solidFill>
              <a:srgbClr val="2F6F5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6D5C94-9374-47EF-881E-5D5C6E788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38650"/>
            <a:ext cx="2266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dates, rent, deposit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5FC89F-4414-4E1F-8955-7BEDF1830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86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E"/>
          </a:solidFill>
          <a:ln xmlns:a="http://schemas.openxmlformats.org/drawingml/2006/main" w="0">
            <a:solidFill>
              <a:srgbClr val="2F6F5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F96143-BEDD-45EB-8034-CBFD7EC17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00600"/>
            <a:ext cx="2266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obligations, unusual clauses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40858D-0A43-41EB-BBC2-016ACCE18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43250"/>
            <a:ext cx="30003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57B2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B75102-139C-48B9-A333-95340BD76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286125"/>
            <a:ext cx="26574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57B2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57B21"/>
                </a:solidFill>
                <a:latin typeface="Aptos"/>
                <a:ea typeface="Aptos"/>
                <a:cs typeface="Aptos"/>
              </a:rPr>
              <a:t>Constrain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5EF8EB-2F50-4855-A8E7-9D0209837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8004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7B21"/>
          </a:solidFill>
          <a:ln xmlns:a="http://schemas.openxmlformats.org/drawingml/2006/main" w="0">
            <a:solidFill>
              <a:srgbClr val="C57B2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A77C14-E64B-4B49-B27B-B18682834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714750"/>
            <a:ext cx="2266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source text only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3761D2-F375-4AB6-999A-A2D9B1CFA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1624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7B21"/>
          </a:solidFill>
          <a:ln xmlns:a="http://schemas.openxmlformats.org/drawingml/2006/main" w="0">
            <a:solidFill>
              <a:srgbClr val="C57B2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572802-F6C5-4EC0-BAB1-09ED59913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76700"/>
            <a:ext cx="2266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null for missing fields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611932-FFCD-4314-B067-F4865BF52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524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7B21"/>
          </a:solidFill>
          <a:ln xmlns:a="http://schemas.openxmlformats.org/drawingml/2006/main" w="0">
            <a:solidFill>
              <a:srgbClr val="C57B2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4FFCD0-E981-4138-B18C-0E222E9CF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38650"/>
            <a:ext cx="2266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no legal advice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2AE31D-8EA3-4D0F-A2F0-84FAFAFE8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886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7B21"/>
          </a:solidFill>
          <a:ln xmlns:a="http://schemas.openxmlformats.org/drawingml/2006/main" w="0">
            <a:solidFill>
              <a:srgbClr val="C57B2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06B933-0207-452F-9B8A-919826CBB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800600"/>
            <a:ext cx="2266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100-word minimum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AF76AF-F3B2-485D-BA6C-7481F155C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43250"/>
            <a:ext cx="30003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E5B8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E19B82-B5BD-433C-B555-2A65D6ED3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86125"/>
            <a:ext cx="26574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E5B8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E5B8A"/>
                </a:solidFill>
                <a:latin typeface="Aptos"/>
                <a:ea typeface="Aptos"/>
                <a:cs typeface="Aptos"/>
              </a:rPr>
              <a:t>Operationalise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79FB29-66B4-4548-A573-5B5A6710E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8004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B8A"/>
          </a:solidFill>
          <a:ln xmlns:a="http://schemas.openxmlformats.org/drawingml/2006/main" w="0">
            <a:solidFill>
              <a:srgbClr val="2E5B8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0D7798-BDCD-43D0-B2F7-D65F4258E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14750"/>
            <a:ext cx="2266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FastAPI endpoint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1B33D0-F307-48F0-9F2C-074D21B0A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1624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B8A"/>
          </a:solidFill>
          <a:ln xmlns:a="http://schemas.openxmlformats.org/drawingml/2006/main" w="0">
            <a:solidFill>
              <a:srgbClr val="2E5B8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63FF02F-6603-464B-ADAB-B76448511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76700"/>
            <a:ext cx="2266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Dockerfile and env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D3F0259-EEB7-4330-85F4-BD6999F31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524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B8A"/>
          </a:solidFill>
          <a:ln xmlns:a="http://schemas.openxmlformats.org/drawingml/2006/main" w="0">
            <a:solidFill>
              <a:srgbClr val="2E5B8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616203F-475B-4144-9F6A-AE8C74D53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38650"/>
            <a:ext cx="2266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guardrail call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41F063B-B260-4380-9BF0-D456F6B3D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886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B8A"/>
          </a:solidFill>
          <a:ln xmlns:a="http://schemas.openxmlformats.org/drawingml/2006/main" w="0">
            <a:solidFill>
              <a:srgbClr val="2E5B8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68FCE66-0E0F-48DB-836C-1F01CDA97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00600"/>
            <a:ext cx="2266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stretch compare endpoint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43C38AB-F1D7-4D6A-87F5-DC806711C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7280"/>
          </a:solidFill>
          <a:ln xmlns:a="http://schemas.openxmlformats.org/drawingml/2006/main" w="0">
            <a:solidFill>
              <a:srgbClr val="6B728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840F73F-DF8B-4C92-8577-3E05EE7CD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742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Smart Lease Summariser | Project specification and implementation evidence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314B99E-C2BE-40E1-8FB3-CA6E9831F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B7280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2669238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E3EB66-66BF-4690-AC20-4DB94F330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C0E8D3-9079-44E6-9FA2-41F3DFF2E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E"/>
          </a:solidFill>
          <a:ln xmlns:a="http://schemas.openxmlformats.org/drawingml/2006/main" w="0">
            <a:solidFill>
              <a:srgbClr val="2F6F5E"/>
            </a:solidFill>
            <a:prstDash val="solid"/>
          </a:ln>
        </p:spPr>
      </p:sp>
      <p:sp>
        <p:nvSpPr>
          <p:cNvPr id="3" name="kicker-delivered-system">
            <a:extLst xmlns:a="http://schemas.openxmlformats.org/drawingml/2006/main">
              <a:ext uri="{FF2B5EF4-FFF2-40B4-BE49-F238E27FC236}">
                <a16:creationId xmlns:a16="http://schemas.microsoft.com/office/drawing/2014/main" id="{A97010D7-FCDE-4343-A90D-ECFC645C5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61975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6F5E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2F6F5E"/>
                </a:solidFill>
                <a:latin typeface="Aptos Mono"/>
                <a:ea typeface="Aptos Mono"/>
                <a:cs typeface="Aptos Mono"/>
              </a:rPr>
              <a:t>DELIVERED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DCA384-0445-413A-A296-669E07B26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86677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The final build exceeds the API-only baseline with document upload and a front end.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B8A281-5AA4-41F9-A527-8EBEC5366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The service remains grounded in the original spec while adding the operational pieces needed to test and use 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E51053-B84B-4AE8-BC83-7C6B40D7A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B8A"/>
          </a:solidFill>
          <a:ln xmlns:a="http://schemas.openxmlformats.org/drawingml/2006/main" w="0">
            <a:solidFill>
              <a:srgbClr val="2E5B8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67905A-0DEB-4C4B-B000-475B9D538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095625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E5B8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E5B8A"/>
                </a:solidFill>
                <a:latin typeface="Aptos"/>
                <a:ea typeface="Aptos"/>
                <a:cs typeface="Aptos"/>
              </a:rPr>
              <a:t>FastAPI backend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3A5E5E-7317-4D51-838A-C652235F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05150"/>
            <a:ext cx="695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Pydantic request/response models, validation, upload parsing, Azure OpenAI calls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84AEA2-E9E1-47D9-9ECF-CC9648A06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481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E"/>
          </a:solidFill>
          <a:ln xmlns:a="http://schemas.openxmlformats.org/drawingml/2006/main" w="0">
            <a:solidFill>
              <a:srgbClr val="2F6F5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91EF63-37C4-4600-9952-166150217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800475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F6F5E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F6F5E"/>
                </a:solidFill>
                <a:latin typeface="Aptos"/>
                <a:ea typeface="Aptos"/>
                <a:cs typeface="Aptos"/>
              </a:rPr>
              <a:t>Streamlit frontend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12C2AB-CF7F-44D4-8278-AE4305BD1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810000"/>
            <a:ext cx="695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Paste or upload inputs, summarise and compare tabs, guardrail-first rendering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D78902-173D-4EC7-A0B0-C8064D580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529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A8A"/>
          </a:solidFill>
          <a:ln xmlns:a="http://schemas.openxmlformats.org/drawingml/2006/main" w="0">
            <a:solidFill>
              <a:srgbClr val="6E5A8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3D7F5B-F939-4862-A430-3A0A406C0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05325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E5A8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E5A8A"/>
                </a:solidFill>
                <a:latin typeface="Aptos"/>
                <a:ea typeface="Aptos"/>
                <a:cs typeface="Aptos"/>
              </a:rPr>
              <a:t>Docker Compose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BA05BC-7252-4CE0-AFFB-C930E6AF7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14850"/>
            <a:ext cx="695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Separate API/frontend Dockerfiles, health checks, env-driven config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EC10ED-B5E6-405D-A4D6-AA9BD0AE9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57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7B21"/>
          </a:solidFill>
          <a:ln xmlns:a="http://schemas.openxmlformats.org/drawingml/2006/main" w="0">
            <a:solidFill>
              <a:srgbClr val="C57B2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E3F73F-F5CA-4958-915E-F142022D6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210175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57B2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57B21"/>
                </a:solidFill>
                <a:latin typeface="Aptos"/>
                <a:ea typeface="Aptos"/>
                <a:cs typeface="Aptos"/>
              </a:rPr>
              <a:t>Fixtures and tests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3CE7E1-8F26-41E1-B516-E8F34970B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219700"/>
            <a:ext cx="695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Valid, invalid, comprehensive, and dense leases with mocked tests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A4BF29-8F8D-45F5-98B3-DC26FF8B2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7280"/>
          </a:solidFill>
          <a:ln xmlns:a="http://schemas.openxmlformats.org/drawingml/2006/main" w="0">
            <a:solidFill>
              <a:srgbClr val="6B728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BE7E0B-1A24-42E7-9759-D473B7101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742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Smart Lease Summariser | Project specification and implementation 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F963F3-D1D4-4F26-8334-73572A057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B7280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6610512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3ACEEA-E8F8-401D-BC1B-12485D98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32BA56-57B8-474E-9479-8FAD33B00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E"/>
          </a:solidFill>
          <a:ln xmlns:a="http://schemas.openxmlformats.org/drawingml/2006/main" w="0">
            <a:solidFill>
              <a:srgbClr val="2F6F5E"/>
            </a:solidFill>
            <a:prstDash val="solid"/>
          </a:ln>
        </p:spPr>
      </p:sp>
      <p:sp>
        <p:nvSpPr>
          <p:cNvPr id="3" name="kicker-user-experience">
            <a:extLst xmlns:a="http://schemas.openxmlformats.org/drawingml/2006/main">
              <a:ext uri="{FF2B5EF4-FFF2-40B4-BE49-F238E27FC236}">
                <a16:creationId xmlns:a16="http://schemas.microsoft.com/office/drawing/2014/main" id="{AFD0BF71-8285-4F3F-BD9C-7A55E77E0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61975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6F5E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2F6F5E"/>
                </a:solidFill>
                <a:latin typeface="Aptos Mono"/>
                <a:ea typeface="Aptos Mono"/>
                <a:cs typeface="Aptos Mono"/>
              </a:rPr>
              <a:t>USER EXPERIENCE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5D19F1-A772-4B4E-9E9A-BD19E479B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86677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The user chooses one input mode per lease, then sees grounding before details.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D01FEB-F300-4D28-93B4-AB90F6A9B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This keeps the workflow simple while reducing the chance that unsupported extraction output is trusted too early.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021689-BD4E-4DDF-AAA8-223853792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16668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F5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0F8850-2E58-4031-A9AE-077E30FC9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861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E"/>
          </a:solidFill>
          <a:ln xmlns:a="http://schemas.openxmlformats.org/drawingml/2006/main" w="0">
            <a:solidFill>
              <a:srgbClr val="2F6F5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A4290D-6557-4A84-B891-869117548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4330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F23DDC-FC12-4DDE-9054-4B77D9097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24300"/>
            <a:ext cx="1381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6F5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6F5E"/>
                </a:solidFill>
                <a:latin typeface="Aptos"/>
                <a:ea typeface="Aptos"/>
                <a:cs typeface="Aptos"/>
              </a:rPr>
              <a:t>Choose tab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65ADAD-1A18-46A8-849A-AECB2CC79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67200"/>
            <a:ext cx="1333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Summarise or Compare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A48A87-BE69-4B99-82E0-F4BC58160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095750"/>
            <a:ext cx="523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0B3"/>
          </a:solidFill>
          <a:ln xmlns:a="http://schemas.openxmlformats.org/drawingml/2006/main" w="0">
            <a:solidFill>
              <a:srgbClr val="C9C0B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FFB4C2-CB33-41AC-BAF4-D14E4EF53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333750"/>
            <a:ext cx="16668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E5B8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A2C3B0-0B07-4E00-9E99-606CD2B0C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4861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B8A"/>
          </a:solidFill>
          <a:ln xmlns:a="http://schemas.openxmlformats.org/drawingml/2006/main" w="0">
            <a:solidFill>
              <a:srgbClr val="2E5B8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505862-4CD5-43A7-AE9B-4FBE2633B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54330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A640A0-ACEF-4811-9C95-39AD34734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924300"/>
            <a:ext cx="1381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5B8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E5B8A"/>
                </a:solidFill>
                <a:latin typeface="Aptos"/>
                <a:ea typeface="Aptos"/>
                <a:cs typeface="Aptos"/>
              </a:rPr>
              <a:t>Choose input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F82695-1790-4D4E-890F-2CB43D44D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267200"/>
            <a:ext cx="1333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Upload file or paste text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48498B-AFFF-44D6-B2F8-320FD2B19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95750"/>
            <a:ext cx="523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0B3"/>
          </a:solidFill>
          <a:ln xmlns:a="http://schemas.openxmlformats.org/drawingml/2006/main" w="0">
            <a:solidFill>
              <a:srgbClr val="C9C0B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E8D48F-AD44-488D-B1B0-BCE34832A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333750"/>
            <a:ext cx="16668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E5A8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CBE05B-0857-4E51-BB9D-5E4EF9048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4861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A8A"/>
          </a:solidFill>
          <a:ln xmlns:a="http://schemas.openxmlformats.org/drawingml/2006/main" w="0">
            <a:solidFill>
              <a:srgbClr val="6E5A8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1A8EEC-743F-4AEF-B9CB-761276C54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54330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B31B9D-C65B-462F-AEE3-7CE9F5668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924300"/>
            <a:ext cx="1381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E5A8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E5A8A"/>
                </a:solidFill>
                <a:latin typeface="Aptos"/>
                <a:ea typeface="Aptos"/>
                <a:cs typeface="Aptos"/>
              </a:rPr>
              <a:t>Submit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5F3C46-4A8B-4E06-B17D-0EB3D73BD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267200"/>
            <a:ext cx="1333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Streamlit calls matching endpoint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7FB3F5-4533-4B5B-AEDE-619C260DB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095750"/>
            <a:ext cx="523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0B3"/>
          </a:solidFill>
          <a:ln xmlns:a="http://schemas.openxmlformats.org/drawingml/2006/main" w="0">
            <a:solidFill>
              <a:srgbClr val="C9C0B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07BA76-4385-4FD0-9679-D26B881EF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333750"/>
            <a:ext cx="16668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57B2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8BECDA-A764-47A8-A516-A34D7E669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4861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7B21"/>
          </a:solidFill>
          <a:ln xmlns:a="http://schemas.openxmlformats.org/drawingml/2006/main" w="0">
            <a:solidFill>
              <a:srgbClr val="C57B2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482381-BF48-4082-AC92-5DCD726FC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54330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77894C-7894-4239-9416-B2D2CA8CD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924300"/>
            <a:ext cx="1381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57B2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57B21"/>
                </a:solidFill>
                <a:latin typeface="Aptos"/>
                <a:ea typeface="Aptos"/>
                <a:cs typeface="Aptos"/>
              </a:rPr>
              <a:t>Review grounding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A6711E-C09D-40A1-A617-A36F82012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4267200"/>
            <a:ext cx="1333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Warnings shown before response content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D9AF33-9914-4B00-9D38-BAFACEF58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95750"/>
            <a:ext cx="523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0B3"/>
          </a:solidFill>
          <a:ln xmlns:a="http://schemas.openxmlformats.org/drawingml/2006/main" w="0">
            <a:solidFill>
              <a:srgbClr val="C9C0B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6F0D1B4-9750-4390-AA50-2FA948FCC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333750"/>
            <a:ext cx="16668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F5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6EB0C3-B983-436A-B2CF-480742C04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4861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E"/>
          </a:solidFill>
          <a:ln xmlns:a="http://schemas.openxmlformats.org/drawingml/2006/main" w="0">
            <a:solidFill>
              <a:srgbClr val="2F6F5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0AE2BA0-4982-4958-B3A1-2E4F9E3A2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54330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A07B394-EA41-47EF-8FD2-A1589DFBE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924300"/>
            <a:ext cx="1381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6F5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6F5E"/>
                </a:solidFill>
                <a:latin typeface="Aptos"/>
                <a:ea typeface="Aptos"/>
                <a:cs typeface="Aptos"/>
              </a:rPr>
              <a:t>Use output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50592FB-0B8B-4FDC-ABD6-DBEABCF87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267200"/>
            <a:ext cx="1333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Plain-English summary, tables, raw JSON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7FADE37-4004-4FAE-B3DF-E1D643F42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7280"/>
          </a:solidFill>
          <a:ln xmlns:a="http://schemas.openxmlformats.org/drawingml/2006/main" w="0">
            <a:solidFill>
              <a:srgbClr val="6B728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33AF256-B678-4128-96D8-2BD75F323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742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Smart Lease Summariser | Project specification and implementation evidence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D8BE752-CDB1-4E54-BB6B-53D58CA44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B7280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3591798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E459DA-380D-4893-8631-FBADA22CF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886F7B-B12A-4404-AC7D-3CDE4CE5B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E"/>
          </a:solidFill>
          <a:ln xmlns:a="http://schemas.openxmlformats.org/drawingml/2006/main" w="0">
            <a:solidFill>
              <a:srgbClr val="2F6F5E"/>
            </a:solidFill>
            <a:prstDash val="solid"/>
          </a:ln>
        </p:spPr>
      </p:sp>
      <p:sp>
        <p:nvSpPr>
          <p:cNvPr id="3" name="kicker-api-contract">
            <a:extLst xmlns:a="http://schemas.openxmlformats.org/drawingml/2006/main">
              <a:ext uri="{FF2B5EF4-FFF2-40B4-BE49-F238E27FC236}">
                <a16:creationId xmlns:a16="http://schemas.microsoft.com/office/drawing/2014/main" id="{418703E9-6C8D-45C1-885F-E00572E87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61975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6F5E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2F6F5E"/>
                </a:solidFill>
                <a:latin typeface="Aptos Mono"/>
                <a:ea typeface="Aptos Mono"/>
                <a:cs typeface="Aptos Mono"/>
              </a:rPr>
              <a:t>API CONTRACT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C03407-E143-4DFB-A695-F439C576F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86677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Document upload and raw-text routes are deliberately separated.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11A7CF-89B1-41FF-9A30-7B79C9902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The endpoint naming now mirrors the client experience and makes integration behavior explicit.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3AEF36-13FD-4634-AD26-A8A2274CF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95625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8E69D5-BA47-4C22-B53D-8C6E5082B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09925"/>
            <a:ext cx="2247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Endpoint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B3897C-B010-4C4C-8685-0512058B8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95625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A5FBF1-08EB-43AB-A989-7620629C8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209925"/>
            <a:ext cx="1295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Request type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C609EE-8EFB-4932-A11B-B51BBF1C3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95625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EA64CD-B50A-43F4-BF62-E7EECD605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209925"/>
            <a:ext cx="2247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Inputs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FEDCA7-FDCB-4170-8514-33C5BC3AA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95625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D6BA5E-8E98-4B5C-88F3-498ABB45F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209925"/>
            <a:ext cx="2628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Validation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D71972-0C10-4213-8BC8-CF184A83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95675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0B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887BB2-212F-4E8D-9DFC-283CCF423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38550"/>
            <a:ext cx="2247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5B8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E5B8A"/>
                </a:solidFill>
                <a:latin typeface="Aptos Mono"/>
                <a:ea typeface="Aptos Mono"/>
                <a:cs typeface="Aptos Mono"/>
              </a:rPr>
              <a:t>/summarise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D74FD7-BB5D-4445-869C-F112F8605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95675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0B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C4C437-8B5E-429F-81E8-B3B0796FA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38550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multipart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BC6660-AAC7-4EAB-8E7B-B525D3D25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495675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0B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3D9AB7-A65C-425D-88E9-B16FCB543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638550"/>
            <a:ext cx="2247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file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328804-C66F-419B-A448-54FF185E8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95675"/>
            <a:ext cx="285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0B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BE3728-7906-42CF-BDB7-E30F62193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638550"/>
            <a:ext cx="2628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.txt, .pdf, .docx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4B4C34-335A-427C-AEF4-469892FAE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90975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CE2"/>
          </a:solidFill>
          <a:ln xmlns:a="http://schemas.openxmlformats.org/drawingml/2006/main" w="9525">
            <a:solidFill>
              <a:srgbClr val="C9C0B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65F084-B288-42BF-9999-B8353C2F5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33850"/>
            <a:ext cx="2247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5B8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E5B8A"/>
                </a:solidFill>
                <a:latin typeface="Aptos Mono"/>
                <a:ea typeface="Aptos Mono"/>
                <a:cs typeface="Aptos Mono"/>
              </a:rPr>
              <a:t>/summarise-text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33FD18-B42C-40F4-B518-D6611333B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990975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CE2"/>
          </a:solidFill>
          <a:ln xmlns:a="http://schemas.openxmlformats.org/drawingml/2006/main" w="9525">
            <a:solidFill>
              <a:srgbClr val="C9C0B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098E4C-FE37-40CB-A587-912E511C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133850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JSON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4443C4-6114-4AF9-8023-071C17A28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990975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CE2"/>
          </a:solidFill>
          <a:ln xmlns:a="http://schemas.openxmlformats.org/drawingml/2006/main" w="9525">
            <a:solidFill>
              <a:srgbClr val="C9C0B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EA68BF-95B0-4B4E-AE5A-CC70352A2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133850"/>
            <a:ext cx="2247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lease_text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EB891E-A3FB-4E5C-B417-A748C8FD1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90975"/>
            <a:ext cx="285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CE2"/>
          </a:solidFill>
          <a:ln xmlns:a="http://schemas.openxmlformats.org/drawingml/2006/main" w="9525">
            <a:solidFill>
              <a:srgbClr val="C9C0B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6BD089-331A-4028-B85A-F1AFD13C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133850"/>
            <a:ext cx="2628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&gt;= 100 words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CE6E7C-AE21-48A5-B3D6-0206F3D4E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86275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0B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EF43CC-B4AA-4A77-8C74-5C6719B0B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29150"/>
            <a:ext cx="2247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5B8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E5B8A"/>
                </a:solidFill>
                <a:latin typeface="Aptos Mono"/>
                <a:ea typeface="Aptos Mono"/>
                <a:cs typeface="Aptos Mono"/>
              </a:rPr>
              <a:t>/compare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F5D939F-2F47-472A-87F8-A34791472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486275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0B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669B119-07A6-43D0-B7EB-33CBE26F1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629150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multipart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307C777-28C2-4596-8632-8F77B2713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486275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0B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FD2403D-21BB-4E80-BAE6-999DDF219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629150"/>
            <a:ext cx="2247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lease_a, lease_b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821E1A9-AE72-4757-87F7-8C71BBBE2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86275"/>
            <a:ext cx="285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0B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9736F2B-900D-4B19-B715-7BAD162F1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629150"/>
            <a:ext cx="2628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.txt, .pdf, .docx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08DACA2-2F4F-42ED-B648-E3B840668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81575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CE2"/>
          </a:solidFill>
          <a:ln xmlns:a="http://schemas.openxmlformats.org/drawingml/2006/main" w="9525">
            <a:solidFill>
              <a:srgbClr val="C9C0B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A223B94-C0EA-4FEA-8B3F-E9B49F599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247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5B8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E5B8A"/>
                </a:solidFill>
                <a:latin typeface="Aptos Mono"/>
                <a:ea typeface="Aptos Mono"/>
                <a:cs typeface="Aptos Mono"/>
              </a:rPr>
              <a:t>/compare-text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44F38F1-6631-4170-B290-E3E96C9F0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981575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CE2"/>
          </a:solidFill>
          <a:ln xmlns:a="http://schemas.openxmlformats.org/drawingml/2006/main" w="9525">
            <a:solidFill>
              <a:srgbClr val="C9C0B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A04E31C-9178-4632-AF14-1C0D2DC08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124450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JSON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0EBFD31-C5CB-44D2-AABA-F6BF4310C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981575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CE2"/>
          </a:solidFill>
          <a:ln xmlns:a="http://schemas.openxmlformats.org/drawingml/2006/main" w="9525">
            <a:solidFill>
              <a:srgbClr val="C9C0B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5B064BC-4E2A-4423-9273-A12F22380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124450"/>
            <a:ext cx="2247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lease_a, lease_b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4CCA8C3-4A23-4E70-BF98-687AC5F51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981575"/>
            <a:ext cx="285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CE2"/>
          </a:solidFill>
          <a:ln xmlns:a="http://schemas.openxmlformats.org/drawingml/2006/main" w="9525">
            <a:solidFill>
              <a:srgbClr val="C9C0B3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E372E35-0247-45B9-9671-231C71A6C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124450"/>
            <a:ext cx="2628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&gt;= 100 words each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A0340F7-1D2B-4957-B79F-BC7855D97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5619750"/>
            <a:ext cx="600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B8545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8BBA085-6B26-4F00-B7CB-9906A9FF3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5667375"/>
            <a:ext cx="584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B85450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B85450"/>
                </a:solidFill>
                <a:latin typeface="Aptos Mono"/>
                <a:ea typeface="Aptos Mono"/>
                <a:cs typeface="Aptos Mono"/>
              </a:rPr>
              <a:t>422 on short text, unsupported files, or no extractable text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3071A44-8EF6-470C-9474-4DD7BC8C2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7280"/>
          </a:solidFill>
          <a:ln xmlns:a="http://schemas.openxmlformats.org/drawingml/2006/main" w="0">
            <a:solidFill>
              <a:srgbClr val="6B728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8262DE0-5A64-4A6D-8FBB-9081A4883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742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Smart Lease Summariser | Project specification and implementation evidence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B6D8E9B-8362-4297-8A88-63CAD9623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B7280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5189606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592D81-DBB5-4114-8AF1-F7C7B978C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7B9019-8001-447C-85CA-B4D6E52D6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E"/>
          </a:solidFill>
          <a:ln xmlns:a="http://schemas.openxmlformats.org/drawingml/2006/main" w="0">
            <a:solidFill>
              <a:srgbClr val="2F6F5E"/>
            </a:solidFill>
            <a:prstDash val="solid"/>
          </a:ln>
        </p:spPr>
      </p:sp>
      <p:sp>
        <p:nvSpPr>
          <p:cNvPr id="3" name="kicker-document-ingestion">
            <a:extLst xmlns:a="http://schemas.openxmlformats.org/drawingml/2006/main">
              <a:ext uri="{FF2B5EF4-FFF2-40B4-BE49-F238E27FC236}">
                <a16:creationId xmlns:a16="http://schemas.microsoft.com/office/drawing/2014/main" id="{DF4E9115-5B7F-4343-88C8-C71397D4F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61975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6F5E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2F6F5E"/>
                </a:solidFill>
                <a:latin typeface="Aptos Mono"/>
                <a:ea typeface="Aptos Mono"/>
                <a:cs typeface="Aptos Mono"/>
              </a:rPr>
              <a:t>DOCUMENT INGESTION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C1253C-80F8-45B8-A9D7-14FAD364B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86677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File handling is intentionally narrow and explicit.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A9199E-8125-4D72-A02A-311A65176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The parser accepts text-based documents only, then normalises everything into validated lease text.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A4E5A1-FBB8-4A97-AC8D-79963957E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43250"/>
            <a:ext cx="2286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F5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E06AE1-1468-490F-87AC-9FB3EA539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86125"/>
            <a:ext cx="194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6F5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F6F5E"/>
                </a:solidFill>
                <a:latin typeface="Aptos"/>
                <a:ea typeface="Aptos"/>
                <a:cs typeface="Aptos"/>
              </a:rPr>
              <a:t>TXT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A09783-0D7D-46EF-B824-E23D2D346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57600"/>
            <a:ext cx="1943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read UTF-8 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C24B33-ADDB-4A9B-8860-91F9FCA6F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67125"/>
            <a:ext cx="619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0B3"/>
          </a:solidFill>
          <a:ln xmlns:a="http://schemas.openxmlformats.org/drawingml/2006/main" w="0">
            <a:solidFill>
              <a:srgbClr val="C9C0B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E5F0AA-B4A3-475F-9683-4E3E0CC27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43250"/>
            <a:ext cx="2286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E5B8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ADCDBA-FD7E-44DB-954B-F7DCB18F0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286125"/>
            <a:ext cx="194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E5B8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E5B8A"/>
                </a:solidFill>
                <a:latin typeface="Aptos"/>
                <a:ea typeface="Aptos"/>
                <a:cs typeface="Aptos"/>
              </a:rPr>
              <a:t>PDF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DC6967-6D7F-463D-8092-421580DB6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657600"/>
            <a:ext cx="1943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extract text with pypdf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C20814-0F21-4FC1-B0BE-06C05229D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67125"/>
            <a:ext cx="619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0B3"/>
          </a:solidFill>
          <a:ln xmlns:a="http://schemas.openxmlformats.org/drawingml/2006/main" w="0">
            <a:solidFill>
              <a:srgbClr val="C9C0B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8416F2-0EC5-420F-BB2B-EAD5334F2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43250"/>
            <a:ext cx="2286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E5A8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013012-C8E9-4984-BE57-1615F271B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86125"/>
            <a:ext cx="194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E5A8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E5A8A"/>
                </a:solidFill>
                <a:latin typeface="Aptos"/>
                <a:ea typeface="Aptos"/>
                <a:cs typeface="Aptos"/>
              </a:rPr>
              <a:t>DOCX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464D66-F065-4814-93D9-BCD362C8F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57600"/>
            <a:ext cx="1943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extract paragraphs with python-docx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39E9CA-ABC1-4672-A2EB-6232280C9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667125"/>
            <a:ext cx="619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0B3"/>
          </a:solidFill>
          <a:ln xmlns:a="http://schemas.openxmlformats.org/drawingml/2006/main" w="0">
            <a:solidFill>
              <a:srgbClr val="C9C0B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F4F7F8-833A-495A-B81B-D4DA61D33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905375"/>
            <a:ext cx="3905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2C7"/>
          </a:solidFill>
          <a:ln xmlns:a="http://schemas.openxmlformats.org/drawingml/2006/main" w="19050">
            <a:solidFill>
              <a:srgbClr val="C57B2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9AC4E4-0B17-4F89-9C8C-9112A3DD5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5048250"/>
            <a:ext cx="3562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57B2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57B21"/>
                </a:solidFill>
                <a:latin typeface="Aptos"/>
                <a:ea typeface="Aptos"/>
                <a:cs typeface="Aptos"/>
              </a:rPr>
              <a:t>Validation gate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023A45-32AB-4AE3-8312-EF7877A79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5419725"/>
            <a:ext cx="3562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Reject under 100 words. Reject unsupported file types. Reject files with no extractable text. Text-based PDFs are supported; scanned PDFs need OCR outside v1.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9537B2-440D-4E13-8359-DD4354587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7280"/>
          </a:solidFill>
          <a:ln xmlns:a="http://schemas.openxmlformats.org/drawingml/2006/main" w="0">
            <a:solidFill>
              <a:srgbClr val="6B728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C0B490-B84C-4F26-BC05-9910264FA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742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Smart Lease Summariser | Project specification and implementation evidence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AB3FBA-CFC8-447A-B729-DE4A9D5C9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B7280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6090208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36E8BD-513C-4626-BA65-04679A64C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E39B44-2860-4860-8B58-AB49CC7CF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E"/>
          </a:solidFill>
          <a:ln xmlns:a="http://schemas.openxmlformats.org/drawingml/2006/main" w="0">
            <a:solidFill>
              <a:srgbClr val="2F6F5E"/>
            </a:solidFill>
            <a:prstDash val="solid"/>
          </a:ln>
        </p:spPr>
      </p:sp>
      <p:sp>
        <p:nvSpPr>
          <p:cNvPr id="3" name="kicker-llm-orchestration">
            <a:extLst xmlns:a="http://schemas.openxmlformats.org/drawingml/2006/main">
              <a:ext uri="{FF2B5EF4-FFF2-40B4-BE49-F238E27FC236}">
                <a16:creationId xmlns:a16="http://schemas.microsoft.com/office/drawing/2014/main" id="{F5999441-0374-4A56-A08D-B8D93EEBD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61975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6F5E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2F6F5E"/>
                </a:solidFill>
                <a:latin typeface="Aptos Mono"/>
                <a:ea typeface="Aptos Mono"/>
                <a:cs typeface="Aptos Mono"/>
              </a:rPr>
              <a:t>LLM ORCHESTRATION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383921-33EE-4E3B-9B26-01185BFF6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86677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The model is used as a controlled extraction engine, not a creative summariser.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73C9A5-5712-4585-8775-8AC9095F0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Temperature is set to 0.0 and every call asks for JSON only.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F5FFB6-EBE1-488D-9289-53C68D2C6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43250"/>
            <a:ext cx="24765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E5B8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3CD8EF-CB88-45AF-82C2-81558BA46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35280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5B8A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2E5B8A"/>
                </a:solidFill>
                <a:latin typeface="Aptos Mono"/>
                <a:ea typeface="Aptos Mono"/>
                <a:cs typeface="Aptos Mono"/>
              </a:rPr>
              <a:t>LLM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9A9835-6C0B-43A6-B354-0D2C6F92B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76650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E5B8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2E5B8A"/>
                </a:solidFill>
                <a:latin typeface="Aptos Display"/>
                <a:ea typeface="Aptos Display"/>
                <a:cs typeface="Aptos Display"/>
              </a:rPr>
              <a:t>Extraction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8C3898-DAC7-444F-AF60-77B27686B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95750"/>
            <a:ext cx="2095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Use lease as only source of truth. Return null for missing fields.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A7F3AA-3B63-47DE-927B-4AF70A55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90525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0B3"/>
          </a:solidFill>
          <a:ln xmlns:a="http://schemas.openxmlformats.org/drawingml/2006/main" w="0">
            <a:solidFill>
              <a:srgbClr val="C9C0B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D43143-3BC3-4AEF-99F0-457026C95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143250"/>
            <a:ext cx="24765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57B2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1D8578-38E3-49C5-A31F-95368E4D1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35280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57B21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C57B21"/>
                </a:solidFill>
                <a:latin typeface="Aptos Mono"/>
                <a:ea typeface="Aptos Mono"/>
                <a:cs typeface="Aptos Mono"/>
              </a:rPr>
              <a:t>LLM 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3F32C0-FADE-47E0-BA81-C92C9B3D5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676650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57B21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C57B21"/>
                </a:solidFill>
                <a:latin typeface="Aptos Display"/>
                <a:ea typeface="Aptos Display"/>
                <a:cs typeface="Aptos Display"/>
              </a:rPr>
              <a:t>Guardrail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BB1FCB-9C18-4372-A1A6-458BDD8B1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095750"/>
            <a:ext cx="2095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Check each extracted field against the original text. Include evidence snippets.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CCE6AB-D247-4E1D-98DA-B46A442F4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90525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0B3"/>
          </a:solidFill>
          <a:ln xmlns:a="http://schemas.openxmlformats.org/drawingml/2006/main" w="0">
            <a:solidFill>
              <a:srgbClr val="C9C0B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6A6FEF-395B-4C90-B26E-340852F08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143250"/>
            <a:ext cx="24765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E5A8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F04413-90C9-46FE-8C95-2720F4F1C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35280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E5A8A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6E5A8A"/>
                </a:solidFill>
                <a:latin typeface="Aptos Mono"/>
                <a:ea typeface="Aptos Mono"/>
                <a:cs typeface="Aptos Mono"/>
              </a:rPr>
              <a:t>LLM 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D10E1A-292F-4602-BFF2-57510E9C8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676650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E5A8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6E5A8A"/>
                </a:solidFill>
                <a:latin typeface="Aptos Display"/>
                <a:ea typeface="Aptos Display"/>
                <a:cs typeface="Aptos Display"/>
              </a:rPr>
              <a:t>Compare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6978C2-26F3-422C-A8E3-5D3F46593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95750"/>
            <a:ext cx="2095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For compare requests, compare two verified extraction objects.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5D81CF-00B4-4E39-AE8A-78BFEBDA4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095875"/>
            <a:ext cx="6953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CE5"/>
          </a:solidFill>
          <a:ln xmlns:a="http://schemas.openxmlformats.org/drawingml/2006/main" w="9525">
            <a:solidFill>
              <a:srgbClr val="2F6F5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29B184-7DEE-4D43-A8CC-493985819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5238750"/>
            <a:ext cx="661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6F5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F6F5E"/>
                </a:solidFill>
                <a:latin typeface="Aptos"/>
                <a:ea typeface="Aptos"/>
                <a:cs typeface="Aptos"/>
              </a:rPr>
              <a:t>Determinism note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889CD1-27A4-451F-8F1F-BF9D401F9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5610225"/>
            <a:ext cx="661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Lease extraction is an information-retrieval task. Low-creativity output reduces invented terms and keeps missing values as null.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13905F-9771-47BA-BF65-D6ED84172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7280"/>
          </a:solidFill>
          <a:ln xmlns:a="http://schemas.openxmlformats.org/drawingml/2006/main" w="0">
            <a:solidFill>
              <a:srgbClr val="6B728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0E3CF4-D7DA-4C70-BBFC-6BAD66E45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742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Smart Lease Summariser | Project specification and implementation evidence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E39A33-84C1-4723-B841-F1D8DCF79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B7280"/>
                </a:solidFill>
                <a:latin typeface="Aptos Mono"/>
                <a:ea typeface="Aptos Mono"/>
                <a:cs typeface="Aptos Mon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8838571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85C6B4-45D4-4F0B-AA11-61D12CA9A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56F504-AC4A-4A2E-AE98-1542CECE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E"/>
          </a:solidFill>
          <a:ln xmlns:a="http://schemas.openxmlformats.org/drawingml/2006/main" w="0">
            <a:solidFill>
              <a:srgbClr val="2F6F5E"/>
            </a:solidFill>
            <a:prstDash val="solid"/>
          </a:ln>
        </p:spPr>
      </p:sp>
      <p:sp>
        <p:nvSpPr>
          <p:cNvPr id="3" name="kicker-guardrails">
            <a:extLst xmlns:a="http://schemas.openxmlformats.org/drawingml/2006/main">
              <a:ext uri="{FF2B5EF4-FFF2-40B4-BE49-F238E27FC236}">
                <a16:creationId xmlns:a16="http://schemas.microsoft.com/office/drawing/2014/main" id="{58879DB1-1246-48DC-BE5B-A2E93CD6E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61975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6F5E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2F6F5E"/>
                </a:solidFill>
                <a:latin typeface="Aptos Mono"/>
                <a:ea typeface="Aptos Mono"/>
                <a:cs typeface="Aptos Mono"/>
              </a:rPr>
              <a:t>GUARDRAILS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CA2797-7D95-4D61-9AF9-5E19EB7C3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86677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Grounding is a first-class response object, not hidden metadata.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CE6DF0-FB28-4494-B15B-C1FBC7C5B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Each extracted field gets a verification status that the API and Streamlit UI expose.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E2000E-3E1F-4543-BBB4-28F8C69BE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43250"/>
            <a:ext cx="2857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CE5"/>
          </a:solidFill>
          <a:ln xmlns:a="http://schemas.openxmlformats.org/drawingml/2006/main" w="19050">
            <a:solidFill>
              <a:srgbClr val="2F6F5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5FEAAC-2FA5-4265-A7B5-98314FFC0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286125"/>
            <a:ext cx="251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6F5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6F5E"/>
                </a:solidFill>
                <a:latin typeface="Aptos"/>
                <a:ea typeface="Aptos"/>
                <a:cs typeface="Aptos"/>
              </a:rPr>
              <a:t>supported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1C63F2-0B7E-4B1C-82DA-CFE757659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657600"/>
            <a:ext cx="25146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Value is clearly present in source text. Evidence snippet is returned.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E4DE18-24F1-4A70-B586-E74258EF6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143250"/>
            <a:ext cx="2857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8D5"/>
          </a:solidFill>
          <a:ln xmlns:a="http://schemas.openxmlformats.org/drawingml/2006/main" w="19050">
            <a:solidFill>
              <a:srgbClr val="B8545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1E0D59-CA27-49D5-BF54-1D0A85ED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286125"/>
            <a:ext cx="251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8545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5450"/>
                </a:solidFill>
                <a:latin typeface="Aptos"/>
                <a:ea typeface="Aptos"/>
                <a:cs typeface="Aptos"/>
              </a:rPr>
              <a:t>unsupported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29E80D-16E4-4487-94FE-3AB7B12AC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657600"/>
            <a:ext cx="25146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Value is absent, contradictory, or more specific than source text.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BA2768-9639-4FE1-AE83-CE6B947EB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143250"/>
            <a:ext cx="2857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2C7"/>
          </a:solidFill>
          <a:ln xmlns:a="http://schemas.openxmlformats.org/drawingml/2006/main" w="19050">
            <a:solidFill>
              <a:srgbClr val="C57B2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C53580-1E8A-4B47-9AC6-34B8AD23D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286125"/>
            <a:ext cx="251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57B2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57B21"/>
                </a:solidFill>
                <a:latin typeface="Aptos"/>
                <a:ea typeface="Aptos"/>
                <a:cs typeface="Aptos"/>
              </a:rPr>
              <a:t>missing_from_extraction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BC8F2F-3BE7-4D88-BDE6-17873B5F7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657600"/>
            <a:ext cx="25146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Extractor returned null because the lease did not state the field.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5521A3-6D87-4594-B9F4-B1BF80DDA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905375"/>
            <a:ext cx="5810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F5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4C058A-9BA3-4688-99D8-F6886F4BF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5048250"/>
            <a:ext cx="5467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6F5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F6F5E"/>
                </a:solidFill>
                <a:latin typeface="Aptos"/>
                <a:ea typeface="Aptos"/>
                <a:cs typeface="Aptos"/>
              </a:rPr>
              <a:t>Frontend order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628DD6-7CA9-40C8-8EB8-5C5B57F59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5419725"/>
            <a:ext cx="5467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1. Grounding check and warnings</a:t>
            </a:r>
          </a:p>
          <a:p xmlns:a="http://schemas.openxmlformats.org/drawingml/2006/main">
            <a:pPr algn="l">
              <a:defRPr sz="11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2. Plain-English extraction or comparison</a:t>
            </a:r>
          </a:p>
          <a:p xmlns:a="http://schemas.openxmlformats.org/drawingml/2006/main">
            <a:pPr algn="l">
              <a:defRPr sz="11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3. Raw JSON expander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51B2C5-B76A-4E0D-9413-1D941763B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7280"/>
          </a:solidFill>
          <a:ln xmlns:a="http://schemas.openxmlformats.org/drawingml/2006/main" w="0">
            <a:solidFill>
              <a:srgbClr val="6B728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D4B767-F525-4447-A162-F9448106C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742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Smart Lease Summariser | Project specification and implementation 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DF6F34-65B9-49CB-A3C7-560CF70CA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B7280"/>
                </a:solidFill>
                <a:latin typeface="Aptos Mono"/>
                <a:ea typeface="Aptos Mono"/>
                <a:cs typeface="Aptos Mon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7838879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CB819F-C155-4634-8494-CFD9F90C1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18374E-E130-42BC-93D4-7D1BC07A1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E"/>
          </a:solidFill>
          <a:ln xmlns:a="http://schemas.openxmlformats.org/drawingml/2006/main" w="0">
            <a:solidFill>
              <a:srgbClr val="2F6F5E"/>
            </a:solidFill>
            <a:prstDash val="solid"/>
          </a:ln>
        </p:spPr>
      </p:sp>
      <p:sp>
        <p:nvSpPr>
          <p:cNvPr id="3" name="kicker-compare-endpoint">
            <a:extLst xmlns:a="http://schemas.openxmlformats.org/drawingml/2006/main">
              <a:ext uri="{FF2B5EF4-FFF2-40B4-BE49-F238E27FC236}">
                <a16:creationId xmlns:a16="http://schemas.microsoft.com/office/drawing/2014/main" id="{D545DB57-6DF8-4661-9C16-C26BF5576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61975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6F5E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2F6F5E"/>
                </a:solidFill>
                <a:latin typeface="Aptos Mono"/>
                <a:ea typeface="Aptos Mono"/>
                <a:cs typeface="Aptos Mono"/>
              </a:rPr>
              <a:t>COMPARE ENDPOINT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65A824-A30E-4FBE-9F67-8E7732C73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86677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Comparison waits until both leases have been extracted and checked.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838262-D4E8-4C44-97A8-01BBA161E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The comparison prompt receives structured lease JSON objects, not raw legal prose.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6B635A-66CF-4516-9D72-25C66C3CF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86125"/>
            <a:ext cx="2286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CE5"/>
          </a:solidFill>
          <a:ln xmlns:a="http://schemas.openxmlformats.org/drawingml/2006/main" w="19050">
            <a:solidFill>
              <a:srgbClr val="2F6F5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213CC1-B075-4793-8CDB-E0436A1BF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29000"/>
            <a:ext cx="194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6F5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F6F5E"/>
                </a:solidFill>
                <a:latin typeface="Aptos"/>
                <a:ea typeface="Aptos"/>
                <a:cs typeface="Aptos"/>
              </a:rPr>
              <a:t>Lease 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4A1E1A-FA57-4745-B953-4C94E7AB1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00475"/>
            <a:ext cx="1943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validate -&gt; extract -&gt; verify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42F472-31AB-4065-8DB6-C72DA72F1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14875"/>
            <a:ext cx="2286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F5"/>
          </a:solidFill>
          <a:ln xmlns:a="http://schemas.openxmlformats.org/drawingml/2006/main" w="19050">
            <a:solidFill>
              <a:srgbClr val="2E5B8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D7E36E-1676-46CB-880E-5D3AD8726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57750"/>
            <a:ext cx="194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E5B8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E5B8A"/>
                </a:solidFill>
                <a:latin typeface="Aptos"/>
                <a:ea typeface="Aptos"/>
                <a:cs typeface="Aptos"/>
              </a:rPr>
              <a:t>Lease 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07F9D7-27B2-4A8D-91F5-92A07F6BF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229225"/>
            <a:ext cx="1943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validate -&gt; extract -&gt; verify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D84A50-1EE6-4DF5-8CA8-FA79D93CC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05250"/>
            <a:ext cx="28575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E5A8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EF4BAD-ADE1-44E0-A964-E19FA6F75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048125"/>
            <a:ext cx="251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E5A8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E5A8A"/>
                </a:solidFill>
                <a:latin typeface="Aptos"/>
                <a:ea typeface="Aptos"/>
                <a:cs typeface="Aptos"/>
              </a:rPr>
              <a:t>Comparison prompt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F4AD80-94CB-48AF-BE66-57C08F9F6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419600"/>
            <a:ext cx="2514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differences in dates, rent, deposit, obligations, restrictions, unusual clauses, and tenant impact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8E85C1-4458-473F-9CC9-0073FA234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905250"/>
            <a:ext cx="2286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57B2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FAFB61-B283-4BCD-AE4D-C51D1C6E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048125"/>
            <a:ext cx="194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57B2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57B21"/>
                </a:solidFill>
                <a:latin typeface="Aptos"/>
                <a:ea typeface="Aptos"/>
                <a:cs typeface="Aptos"/>
              </a:rPr>
              <a:t>Structured result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E1F030-45B9-4E51-A1F3-940AD9B98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419600"/>
            <a:ext cx="19431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summary + field-level differences + practical impact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47F93F-CA32-4733-A058-9FC5E99B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62375"/>
            <a:ext cx="78581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0B3"/>
          </a:solidFill>
          <a:ln xmlns:a="http://schemas.openxmlformats.org/drawingml/2006/main" w="0">
            <a:solidFill>
              <a:srgbClr val="C9C0B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21DCEB-85B4-452F-A856-5F4A9F16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563" y="3762375"/>
            <a:ext cx="190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0B3"/>
          </a:solidFill>
          <a:ln xmlns:a="http://schemas.openxmlformats.org/drawingml/2006/main" w="0">
            <a:solidFill>
              <a:srgbClr val="C9C0B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9A15C0-EF78-4288-81BD-FEB5986D8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563" y="4286250"/>
            <a:ext cx="64293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0B3"/>
          </a:solidFill>
          <a:ln xmlns:a="http://schemas.openxmlformats.org/drawingml/2006/main" w="0">
            <a:solidFill>
              <a:srgbClr val="C9C0B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2777DB-E1C4-4D55-AE10-4E82D39D1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191125"/>
            <a:ext cx="78581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0B3"/>
          </a:solidFill>
          <a:ln xmlns:a="http://schemas.openxmlformats.org/drawingml/2006/main" w="0">
            <a:solidFill>
              <a:srgbClr val="C9C0B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3DBD94-3594-44DD-AF40-75F99C545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563" y="4714875"/>
            <a:ext cx="19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0B3"/>
          </a:solidFill>
          <a:ln xmlns:a="http://schemas.openxmlformats.org/drawingml/2006/main" w="0">
            <a:solidFill>
              <a:srgbClr val="C9C0B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61BE11-6C5B-46D6-BFEB-09607EEE6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563" y="4714875"/>
            <a:ext cx="64293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0B3"/>
          </a:solidFill>
          <a:ln xmlns:a="http://schemas.openxmlformats.org/drawingml/2006/main" w="0">
            <a:solidFill>
              <a:srgbClr val="C9C0B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B7A73D-83A6-43C4-AA56-893C84B34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495800"/>
            <a:ext cx="133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0B3"/>
          </a:solidFill>
          <a:ln xmlns:a="http://schemas.openxmlformats.org/drawingml/2006/main" w="0">
            <a:solidFill>
              <a:srgbClr val="C9C0B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B30E24-61DD-49BB-91E9-C3E76AB4E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7280"/>
          </a:solidFill>
          <a:ln xmlns:a="http://schemas.openxmlformats.org/drawingml/2006/main" w="0">
            <a:solidFill>
              <a:srgbClr val="6B728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92F0C7-A127-420D-BE6D-7E50B853C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742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Smart Lease Summariser | Project specification and implementation evidence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E361E9-BC8B-439D-B275-257ACE51D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B7280"/>
                </a:solidFill>
                <a:latin typeface="Aptos Mono"/>
                <a:ea typeface="Aptos Mono"/>
                <a:cs typeface="Aptos Mon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436894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1DEAB5-7D85-4ACF-8A8B-1AD090E38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1536B5-B6E8-478F-91DE-54A01CBE7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E"/>
          </a:solidFill>
          <a:ln xmlns:a="http://schemas.openxmlformats.org/drawingml/2006/main" w="0">
            <a:solidFill>
              <a:srgbClr val="2F6F5E"/>
            </a:solidFill>
            <a:prstDash val="solid"/>
          </a:ln>
        </p:spPr>
      </p:sp>
      <p:sp>
        <p:nvSpPr>
          <p:cNvPr id="3" name="kicker-data-contracts">
            <a:extLst xmlns:a="http://schemas.openxmlformats.org/drawingml/2006/main">
              <a:ext uri="{FF2B5EF4-FFF2-40B4-BE49-F238E27FC236}">
                <a16:creationId xmlns:a16="http://schemas.microsoft.com/office/drawing/2014/main" id="{1FDB8F0E-1D74-46E2-AA8B-467036434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61975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6F5E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2F6F5E"/>
                </a:solidFill>
                <a:latin typeface="Aptos Mono"/>
                <a:ea typeface="Aptos Mono"/>
                <a:cs typeface="Aptos Mono"/>
              </a:rPr>
              <a:t>DATA CONTRACTS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4C5022-AD8C-4AC1-B99B-D1D2F09B7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86677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Pydantic models make model output operationally usable.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E792F1-A3AD-42B2-B130-3CB3E1545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The API does not return a loose essay; it returns typed extraction, verification, warnings, and comparison objects.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5D1B7E-12C7-42D9-AC8D-3A9F96276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31432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E5B8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1E0459-5269-461D-9AB9-A1F464D38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86125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E5B8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E5B8A"/>
                </a:solidFill>
                <a:latin typeface="Aptos"/>
                <a:ea typeface="Aptos"/>
                <a:cs typeface="Aptos"/>
              </a:rPr>
              <a:t>LeaseExtraction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9D7AF2-0876-4899-B778-F0C77C2AE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57600"/>
            <a:ext cx="28003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tenant, landlord, address, dates, rent, deposit, notice, obligations, unusual clauses, summary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90A811-C95E-4AF8-9C90-091FD8AF8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143250"/>
            <a:ext cx="28575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57B2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413870-E5A3-4763-BEA5-FC7F1277C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286125"/>
            <a:ext cx="251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57B2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57B21"/>
                </a:solidFill>
                <a:latin typeface="Aptos"/>
                <a:ea typeface="Aptos"/>
                <a:cs typeface="Aptos"/>
              </a:rPr>
              <a:t>GuardrailResult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4E4838-85BB-4922-9829-B88DDD3EE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657600"/>
            <a:ext cx="25146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overall_supported + field checks with status, evidence, explanation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F3DC19-A012-46C1-8698-43C41417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43250"/>
            <a:ext cx="28575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F5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AB422B-E4A3-4EE8-B166-EE423A602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86125"/>
            <a:ext cx="251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6F5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F6F5E"/>
                </a:solidFill>
                <a:latin typeface="Aptos"/>
                <a:ea typeface="Aptos"/>
                <a:cs typeface="Aptos"/>
              </a:rPr>
              <a:t>SummariseResponse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C906BF-B5E5-4539-8AD9-AD22A9A6D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657600"/>
            <a:ext cx="25146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extraction + verification + warnings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111265-DC28-4305-B146-0A01B7AA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000625"/>
            <a:ext cx="28575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E5A8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F860C1-D514-4EA2-923D-77FCC5FCD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143500"/>
            <a:ext cx="251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E5A8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E5A8A"/>
                </a:solidFill>
                <a:latin typeface="Aptos"/>
                <a:ea typeface="Aptos"/>
                <a:cs typeface="Aptos"/>
              </a:rPr>
              <a:t>LeaseComparison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191CCB-0BAE-481E-957B-D4FA3CE4E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514975"/>
            <a:ext cx="25146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summary + list of field differences and practical impact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36EFD7-4C56-434B-9E2F-9CAA77236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95700"/>
            <a:ext cx="523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0B3"/>
          </a:solidFill>
          <a:ln xmlns:a="http://schemas.openxmlformats.org/drawingml/2006/main" w="0">
            <a:solidFill>
              <a:srgbClr val="C9C0B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0187C7-2E5A-4DC5-9F51-97AF70B3C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695700"/>
            <a:ext cx="714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0B3"/>
          </a:solidFill>
          <a:ln xmlns:a="http://schemas.openxmlformats.org/drawingml/2006/main" w="0">
            <a:solidFill>
              <a:srgbClr val="C9C0B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70E363-F7F4-40FF-90BE-CDEFC421A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238625"/>
            <a:ext cx="190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0B3"/>
          </a:solidFill>
          <a:ln xmlns:a="http://schemas.openxmlformats.org/drawingml/2006/main" w="0">
            <a:solidFill>
              <a:srgbClr val="C9C0B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791342-52E1-4D91-8229-644B93137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7280"/>
          </a:solidFill>
          <a:ln xmlns:a="http://schemas.openxmlformats.org/drawingml/2006/main" w="0">
            <a:solidFill>
              <a:srgbClr val="6B728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6C3724-9186-476C-AEBE-B26E6E025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742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Smart Lease Summariser | Project specification and implementation evidence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FE5AF2-A2CD-47E2-9E47-41BEB6709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B7280"/>
                </a:solidFill>
                <a:latin typeface="Aptos Mono"/>
                <a:ea typeface="Aptos Mono"/>
                <a:cs typeface="Aptos Mono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575736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496FC3-BC36-4091-BBBA-FC90A1166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07C133-52BA-40F5-A59B-FC3E23EB8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E"/>
          </a:solidFill>
          <a:ln xmlns:a="http://schemas.openxmlformats.org/drawingml/2006/main" w="0">
            <a:solidFill>
              <a:srgbClr val="2F6F5E"/>
            </a:solidFill>
            <a:prstDash val="solid"/>
          </a:ln>
        </p:spPr>
      </p:sp>
      <p:sp>
        <p:nvSpPr>
          <p:cNvPr id="3" name="kicker-container-architecture">
            <a:extLst xmlns:a="http://schemas.openxmlformats.org/drawingml/2006/main">
              <a:ext uri="{FF2B5EF4-FFF2-40B4-BE49-F238E27FC236}">
                <a16:creationId xmlns:a16="http://schemas.microsoft.com/office/drawing/2014/main" id="{F7BF6853-809D-44FA-B97A-1E408CDB6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61975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6F5E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2F6F5E"/>
                </a:solidFill>
                <a:latin typeface="Aptos Mono"/>
                <a:ea typeface="Aptos Mono"/>
                <a:cs typeface="Aptos Mono"/>
              </a:rPr>
              <a:t>CONTAINER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DC8713-0AD9-4EAA-89AA-8BAC923C8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86677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Docker Compose separates UI and API while sharing one operational contract.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B324B5-BDAE-412A-ACE2-561C5EFF6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The frontend talks to the API service name internally; the API reads Azure OpenAI config from .env.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01E5CA-BC74-4CC1-8E95-D1059EB7D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809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F5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D960BF-D17B-435A-906B-7515B3F7A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52425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6F5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F6F5E"/>
                </a:solidFill>
                <a:latin typeface="Aptos"/>
                <a:ea typeface="Aptos"/>
                <a:cs typeface="Aptos"/>
              </a:rPr>
              <a:t>User browser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2D664B-193D-4504-8426-997A57B23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895725"/>
            <a:ext cx="1466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http://localhost:8501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3AF730-C3FF-4687-871E-A23F4F25F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000375"/>
            <a:ext cx="2286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CE5"/>
          </a:solidFill>
          <a:ln xmlns:a="http://schemas.openxmlformats.org/drawingml/2006/main" w="19050">
            <a:solidFill>
              <a:srgbClr val="2F6F5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52DF9D-57D2-4BBB-855F-AE2B1C78A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143250"/>
            <a:ext cx="194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6F5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F6F5E"/>
                </a:solidFill>
                <a:latin typeface="Aptos"/>
                <a:ea typeface="Aptos"/>
                <a:cs typeface="Aptos"/>
              </a:rPr>
              <a:t>frontend container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DE2CB7-0595-422C-9EDF-13DD51EEA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514725"/>
            <a:ext cx="1943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Streamlit</a:t>
            </a:r>
          </a:p>
          <a:p xmlns:a="http://schemas.openxmlformats.org/drawingml/2006/main">
            <a:pPr algn="l">
              <a:defRPr sz="9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API_BASE_URL=http://api:8000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B13ED9-1E97-40BC-8C67-0B5C31946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00375"/>
            <a:ext cx="2286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F5"/>
          </a:solidFill>
          <a:ln xmlns:a="http://schemas.openxmlformats.org/drawingml/2006/main" w="19050">
            <a:solidFill>
              <a:srgbClr val="2E5B8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AD2AFC-2729-45AE-ACAF-A7ED113A9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43250"/>
            <a:ext cx="194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E5B8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E5B8A"/>
                </a:solidFill>
                <a:latin typeface="Aptos"/>
                <a:ea typeface="Aptos"/>
                <a:cs typeface="Aptos"/>
              </a:rPr>
              <a:t>api container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AA0545-EFC0-487E-975C-C5A219372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514725"/>
            <a:ext cx="1943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FastAPI</a:t>
            </a:r>
          </a:p>
          <a:p xmlns:a="http://schemas.openxmlformats.org/drawingml/2006/main">
            <a:pPr algn="l">
              <a:defRPr sz="9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health check on /health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2EE536-A1FD-42C0-B59A-EABE65636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381375"/>
            <a:ext cx="1714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E5A8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B95DD1-678C-4BD3-B6CA-73A898C2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524250"/>
            <a:ext cx="1371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E5A8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E5A8A"/>
                </a:solidFill>
                <a:latin typeface="Aptos"/>
                <a:ea typeface="Aptos"/>
                <a:cs typeface="Aptos"/>
              </a:rPr>
              <a:t>Azure OpenAI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382476-5500-4307-AAE5-0F14C2123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895725"/>
            <a:ext cx="1371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deployment configured via .env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9F0D5B-816D-4206-8EA8-74965B8CE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53000"/>
            <a:ext cx="2286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2C7"/>
          </a:solidFill>
          <a:ln xmlns:a="http://schemas.openxmlformats.org/drawingml/2006/main" w="19050">
            <a:solidFill>
              <a:srgbClr val="C57B2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70F557-12FA-4761-9074-082661D4C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095875"/>
            <a:ext cx="194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57B2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57B21"/>
                </a:solidFill>
                <a:latin typeface="Aptos"/>
                <a:ea typeface="Aptos"/>
                <a:cs typeface="Aptos"/>
              </a:rPr>
              <a:t>.env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8D77C2-77CA-4A29-A102-51F661BC5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467350"/>
            <a:ext cx="1943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API_KEY</a:t>
            </a:r>
          </a:p>
          <a:p xmlns:a="http://schemas.openxmlformats.org/drawingml/2006/main">
            <a:pPr algn="l">
              <a:defRPr sz="9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ENDPOINT</a:t>
            </a:r>
          </a:p>
          <a:p xmlns:a="http://schemas.openxmlformats.org/drawingml/2006/main">
            <a:pPr algn="l">
              <a:defRPr sz="9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API_VERSION</a:t>
            </a:r>
          </a:p>
          <a:p xmlns:a="http://schemas.openxmlformats.org/drawingml/2006/main">
            <a:pPr algn="l">
              <a:defRPr sz="9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DEPLOYMENT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FAB5F9-AC12-4BD5-946A-3A0D858CE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829050"/>
            <a:ext cx="809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0B3"/>
          </a:solidFill>
          <a:ln xmlns:a="http://schemas.openxmlformats.org/drawingml/2006/main" w="0">
            <a:solidFill>
              <a:srgbClr val="C9C0B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4731EA-B8A7-4024-A139-1721CD12B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29050"/>
            <a:ext cx="95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0B3"/>
          </a:solidFill>
          <a:ln xmlns:a="http://schemas.openxmlformats.org/drawingml/2006/main" w="0">
            <a:solidFill>
              <a:srgbClr val="C9C0B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31A15F-A87E-46A6-96D6-00DB44846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829050"/>
            <a:ext cx="809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0B3"/>
          </a:solidFill>
          <a:ln xmlns:a="http://schemas.openxmlformats.org/drawingml/2006/main" w="0">
            <a:solidFill>
              <a:srgbClr val="C9C0B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0B07F6-19A9-432A-8428-E0FE50178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24375"/>
            <a:ext cx="190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0B3"/>
          </a:solidFill>
          <a:ln xmlns:a="http://schemas.openxmlformats.org/drawingml/2006/main" w="0">
            <a:solidFill>
              <a:srgbClr val="C9C0B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548A14-2C40-4148-8417-F5AADB10B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7280"/>
          </a:solidFill>
          <a:ln xmlns:a="http://schemas.openxmlformats.org/drawingml/2006/main" w="0">
            <a:solidFill>
              <a:srgbClr val="6B728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6F2A33-F322-4D2A-8154-A3DE47227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742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Smart Lease Summariser | Project specification and implementation evidence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737D27-275C-488F-8983-F5AD8D665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B7280"/>
                </a:solidFill>
                <a:latin typeface="Aptos Mono"/>
                <a:ea typeface="Aptos Mono"/>
                <a:cs typeface="Aptos Mono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8626950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3F5A7F-ED71-4996-AC7D-0447181A7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96DCC6-61BB-461E-A2E3-9A46B606E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E"/>
          </a:solidFill>
          <a:ln xmlns:a="http://schemas.openxmlformats.org/drawingml/2006/main" w="0">
            <a:solidFill>
              <a:srgbClr val="2F6F5E"/>
            </a:solidFill>
            <a:prstDash val="solid"/>
          </a:ln>
        </p:spPr>
      </p:sp>
      <p:sp>
        <p:nvSpPr>
          <p:cNvPr id="3" name="kicker-frontend-refactor">
            <a:extLst xmlns:a="http://schemas.openxmlformats.org/drawingml/2006/main">
              <a:ext uri="{FF2B5EF4-FFF2-40B4-BE49-F238E27FC236}">
                <a16:creationId xmlns:a16="http://schemas.microsoft.com/office/drawing/2014/main" id="{F380D113-32A4-4AEC-882E-9BA1ABDE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61975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6F5E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2F6F5E"/>
                </a:solidFill>
                <a:latin typeface="Aptos Mono"/>
                <a:ea typeface="Aptos Mono"/>
                <a:cs typeface="Aptos Mono"/>
              </a:rPr>
              <a:t>FRONTEND REFACTOR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52DF04-4485-41D6-A3FA-469B2F8BD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86677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The Streamlit app is now a package, not a single growing script.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37509C-0184-4612-AF49-EBC231F56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Responsibility boundaries make the UI easier to test and safer to modify.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5CFFD5-8167-4022-B079-7F844CC6C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2857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F5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95F6D7-6338-49FF-998F-DF60A5ADB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86125"/>
            <a:ext cx="251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6F5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F6F5E"/>
                </a:solidFill>
                <a:latin typeface="Aptos"/>
                <a:ea typeface="Aptos"/>
                <a:cs typeface="Aptos"/>
              </a:rPr>
              <a:t>streamlit_app.py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FC118A-FF00-49FB-9C6F-E7B7C4BC4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57600"/>
            <a:ext cx="2514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entrypoint and tab shell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36059D-7AB2-4CC5-AEB7-1B0F12626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43250"/>
            <a:ext cx="2857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E5B8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581083-4570-41D5-9F01-8A1F54D36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286125"/>
            <a:ext cx="251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E5B8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E5B8A"/>
                </a:solidFill>
                <a:latin typeface="Aptos"/>
                <a:ea typeface="Aptos"/>
                <a:cs typeface="Aptos"/>
              </a:rPr>
              <a:t>tabs.py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06215B-1C3B-4712-80DA-685100ABF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657600"/>
            <a:ext cx="2514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summarise and compare workflows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B684D3-5B01-4A22-A2A8-CC197CFA0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43250"/>
            <a:ext cx="2857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57B2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BE4C4D-0E28-4835-B2D6-C943230DA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86125"/>
            <a:ext cx="251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57B2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57B21"/>
                </a:solidFill>
                <a:latin typeface="Aptos"/>
                <a:ea typeface="Aptos"/>
                <a:cs typeface="Aptos"/>
              </a:rPr>
              <a:t>lease_inputs.py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F6E36C-EEAC-407F-8E64-36F52FD5E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657600"/>
            <a:ext cx="2514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text/file widgets and upload parts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544392-2DA4-4338-ABE5-5EA523889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24375"/>
            <a:ext cx="2857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E5A8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D89B7C-169E-4DF7-BBA1-9A7EE0A82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67250"/>
            <a:ext cx="251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E5A8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E5A8A"/>
                </a:solidFill>
                <a:latin typeface="Aptos"/>
                <a:ea typeface="Aptos"/>
                <a:cs typeface="Aptos"/>
              </a:rPr>
              <a:t>api_client.py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FE806B-B541-4BFE-956C-CAB038E91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38725"/>
            <a:ext cx="2514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HTTP calls and API error display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01D5DB-D9A8-42F1-B168-54F484A4C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24375"/>
            <a:ext cx="2857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F5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89B464-B91B-451F-BA57-0D4AC68C6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667250"/>
            <a:ext cx="251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6F5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F6F5E"/>
                </a:solidFill>
                <a:latin typeface="Aptos"/>
                <a:ea typeface="Aptos"/>
                <a:cs typeface="Aptos"/>
              </a:rPr>
              <a:t>renderers.py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F4BF95-105F-4534-9BE8-05029554A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038725"/>
            <a:ext cx="2514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guardrail, summary, comparison UI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887E07-F418-45A3-8B0C-ACC0969A5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24375"/>
            <a:ext cx="2857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545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69E209-0659-40D4-8FD7-9F052CE7B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667250"/>
            <a:ext cx="251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545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85450"/>
                </a:solidFill>
                <a:latin typeface="Aptos"/>
                <a:ea typeface="Aptos"/>
                <a:cs typeface="Aptos"/>
              </a:rPr>
              <a:t>error_utils.py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E123B0-D7EF-45DE-A5E7-1E77FF0FE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038725"/>
            <a:ext cx="2514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FastAPI error normalization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DEC1F4-3348-4D5D-BF77-E77AE1231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7280"/>
          </a:solidFill>
          <a:ln xmlns:a="http://schemas.openxmlformats.org/drawingml/2006/main" w="0">
            <a:solidFill>
              <a:srgbClr val="6B728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4D37F5-4FB5-4E55-9CC3-1DE0B56C4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742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Smart Lease Summariser | Project specification and implementation evidence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B669B6-E38E-466B-99ED-86DD79873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B7280"/>
                </a:solidFill>
                <a:latin typeface="Aptos Mono"/>
                <a:ea typeface="Aptos Mono"/>
                <a:cs typeface="Aptos Mono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20384528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230193-054E-4AC6-91FE-0110156F9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7778EA-42FD-42F2-A57C-89230BFA1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E"/>
          </a:solidFill>
          <a:ln xmlns:a="http://schemas.openxmlformats.org/drawingml/2006/main" w="0">
            <a:solidFill>
              <a:srgbClr val="2F6F5E"/>
            </a:solidFill>
            <a:prstDash val="solid"/>
          </a:ln>
        </p:spPr>
      </p:sp>
      <p:sp>
        <p:nvSpPr>
          <p:cNvPr id="3" name="kicker-quality-evidence">
            <a:extLst xmlns:a="http://schemas.openxmlformats.org/drawingml/2006/main">
              <a:ext uri="{FF2B5EF4-FFF2-40B4-BE49-F238E27FC236}">
                <a16:creationId xmlns:a16="http://schemas.microsoft.com/office/drawing/2014/main" id="{501F108B-FD30-4443-933E-2797F7245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61975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6F5E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2F6F5E"/>
                </a:solidFill>
                <a:latin typeface="Aptos Mono"/>
                <a:ea typeface="Aptos Mono"/>
                <a:cs typeface="Aptos Mono"/>
              </a:rPr>
              <a:t>QUALITY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07E41A-A786-4923-BA03-970C30294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86677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The test suite protects API shape, parser behavior, validation, and frontend guardrails.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1B1DB3-2255-4029-9EF3-01854F97B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Azure OpenAI calls are mocked, so tests are repeatable and do not depend on network or credentials.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CD752D-5F8F-4CA0-A9FF-D13705AE5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2000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F5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372A65-B8D9-49E3-8D74-832F9EF13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86125"/>
            <a:ext cx="1657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F6F5E"/>
                </a:solidFill>
                <a:latin typeface="Aptos Mono"/>
                <a:ea typeface="Aptos Mono"/>
                <a:cs typeface="Aptos Mono"/>
              </a:defRPr>
            </a:pPr>
            <a:r>
              <a:rPr sz="2100" b="1">
                <a:solidFill>
                  <a:srgbClr val="2F6F5E"/>
                </a:solidFill>
                <a:latin typeface="Aptos Mono"/>
                <a:ea typeface="Aptos Mono"/>
                <a:cs typeface="Aptos Mono"/>
              </a:rPr>
              <a:t>12/12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6FFE58-D586-45EE-9A52-BA844C599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38550"/>
            <a:ext cx="1657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pytest tests passing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757B35-F941-4F12-A94B-E6660B910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43250"/>
            <a:ext cx="2190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E5B8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D84775-14AA-402B-8605-B906444E9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286125"/>
            <a:ext cx="1847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E5B8A"/>
                </a:solidFill>
                <a:latin typeface="Aptos Mono"/>
                <a:ea typeface="Aptos Mono"/>
                <a:cs typeface="Aptos Mono"/>
              </a:defRPr>
            </a:pPr>
            <a:r>
              <a:rPr sz="2100" b="1">
                <a:solidFill>
                  <a:srgbClr val="2E5B8A"/>
                </a:solidFill>
                <a:latin typeface="Aptos Mono"/>
                <a:ea typeface="Aptos Mono"/>
                <a:cs typeface="Aptos Mono"/>
              </a:rPr>
              <a:t>100.0%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3C4D52-9653-40C9-A970-FD4C1565B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638550"/>
            <a:ext cx="1847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pass percentage summary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CEC293-0B61-4FFF-81C7-A3AE451EF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43250"/>
            <a:ext cx="2095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57B2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ABD273-11EE-48F6-A7FF-07AB30DF1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286125"/>
            <a:ext cx="1752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57B21"/>
                </a:solidFill>
                <a:latin typeface="Aptos Mono"/>
                <a:ea typeface="Aptos Mono"/>
                <a:cs typeface="Aptos Mono"/>
              </a:defRPr>
            </a:pPr>
            <a:r>
              <a:rPr sz="2100" b="1">
                <a:solidFill>
                  <a:srgbClr val="C57B21"/>
                </a:solidFill>
                <a:latin typeface="Aptos Mono"/>
                <a:ea typeface="Aptos Mono"/>
                <a:cs typeface="Aptos Mono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CE3745-67F9-4F7C-AA24-6B82C1C03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638550"/>
            <a:ext cx="1752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document parsers covered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C260D5-74BB-472D-A33F-23D3172C0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43250"/>
            <a:ext cx="2286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545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8E9A86-6DC0-48EE-B754-C62308883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86125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85450"/>
                </a:solidFill>
                <a:latin typeface="Aptos Mono"/>
                <a:ea typeface="Aptos Mono"/>
                <a:cs typeface="Aptos Mono"/>
              </a:defRPr>
            </a:pPr>
            <a:r>
              <a:rPr sz="2100" b="1">
                <a:solidFill>
                  <a:srgbClr val="B85450"/>
                </a:solidFill>
                <a:latin typeface="Aptos Mono"/>
                <a:ea typeface="Aptos Mono"/>
                <a:cs typeface="Aptos Mono"/>
              </a:rPr>
              <a:t>422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3FF3C4-BFC9-4FEC-A5B3-C008A0A87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38550"/>
            <a:ext cx="1943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invalid lease and file errors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22EFED-240C-4CE1-9C3C-EE1C5E940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625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API endpoints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47BEAA-6C19-4019-9630-54211DC6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810125"/>
            <a:ext cx="47148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B8A"/>
          </a:solidFill>
          <a:ln xmlns:a="http://schemas.openxmlformats.org/drawingml/2006/main" w="0">
            <a:solidFill>
              <a:srgbClr val="2E5B8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5B4EE0-034C-4EE3-A604-D82CE0CA5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781550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E5B8A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2E5B8A"/>
                </a:solidFill>
                <a:latin typeface="Aptos Mono"/>
                <a:ea typeface="Aptos Mono"/>
                <a:cs typeface="Aptos Mono"/>
              </a:rPr>
              <a:t>9 tests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A963E1-7A58-4A48-A150-A0468B9BD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1244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Frontend utilities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BFF69D-E215-4727-9E83-95A55E437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172075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E"/>
          </a:solidFill>
          <a:ln xmlns:a="http://schemas.openxmlformats.org/drawingml/2006/main" w="0">
            <a:solidFill>
              <a:srgbClr val="2F6F5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D24693-AC2D-4C7B-99BE-4EC4A47FF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143500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F6F5E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2F6F5E"/>
                </a:solidFill>
                <a:latin typeface="Aptos Mono"/>
                <a:ea typeface="Aptos Mono"/>
                <a:cs typeface="Aptos Mono"/>
              </a:rPr>
              <a:t>2 tests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ACB390-EEEF-4C0E-B93F-3368A3400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864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Renderer ordering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B2A7C8-7CD1-46EB-AC65-96D24D445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534025"/>
            <a:ext cx="5238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7B21"/>
          </a:solidFill>
          <a:ln xmlns:a="http://schemas.openxmlformats.org/drawingml/2006/main" w="0">
            <a:solidFill>
              <a:srgbClr val="C57B2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B0682E-E1E9-4184-B383-CF3F71A82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505450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57B21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C57B21"/>
                </a:solidFill>
                <a:latin typeface="Aptos Mono"/>
                <a:ea typeface="Aptos Mono"/>
                <a:cs typeface="Aptos Mono"/>
              </a:rPr>
              <a:t>1 tests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AE6AC7-2624-49F7-A76B-73978B550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7280"/>
          </a:solidFill>
          <a:ln xmlns:a="http://schemas.openxmlformats.org/drawingml/2006/main" w="0">
            <a:solidFill>
              <a:srgbClr val="6B728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539D76-E90D-4789-B97D-826D0AEB5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742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Smart Lease Summariser | Project specification and implementation evidence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6C661F-F150-4DCA-B24E-AF0AE55F6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B7280"/>
                </a:solidFill>
                <a:latin typeface="Aptos Mono"/>
                <a:ea typeface="Aptos Mono"/>
                <a:cs typeface="Aptos Mono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52184066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8C4D24-24EC-4906-AF0A-9D5B11537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02D9EB-357E-4514-B774-C3C4A0297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E"/>
          </a:solidFill>
          <a:ln xmlns:a="http://schemas.openxmlformats.org/drawingml/2006/main" w="0">
            <a:solidFill>
              <a:srgbClr val="2F6F5E"/>
            </a:solidFill>
            <a:prstDash val="solid"/>
          </a:ln>
        </p:spPr>
      </p:sp>
      <p:sp>
        <p:nvSpPr>
          <p:cNvPr id="3" name="kicker-risks-and-boundaries">
            <a:extLst xmlns:a="http://schemas.openxmlformats.org/drawingml/2006/main">
              <a:ext uri="{FF2B5EF4-FFF2-40B4-BE49-F238E27FC236}">
                <a16:creationId xmlns:a16="http://schemas.microsoft.com/office/drawing/2014/main" id="{FCF52967-3191-4B04-8B8C-6E37992F4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61975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6F5E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2F6F5E"/>
                </a:solidFill>
                <a:latin typeface="Aptos Mono"/>
                <a:ea typeface="Aptos Mono"/>
                <a:cs typeface="Aptos Mono"/>
              </a:rPr>
              <a:t>RISKS AND BOUNDARIES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53E724-C268-4E78-A62F-F269B1BAA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86677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The system is operational summarisation, not legal advice.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41F807-1D61-49CD-819A-5C4B272FC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The implementation names its boundaries so future hardening can target the right gaps.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59D7B6-3992-438B-8EF1-1F5133A98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76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7B21"/>
          </a:solidFill>
          <a:ln xmlns:a="http://schemas.openxmlformats.org/drawingml/2006/main" w="0">
            <a:solidFill>
              <a:srgbClr val="C57B2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5762CE-0B4E-4CA2-8F9F-B85087C11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194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57B2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57B21"/>
                </a:solidFill>
                <a:latin typeface="Aptos"/>
                <a:ea typeface="Aptos"/>
                <a:cs typeface="Aptos"/>
              </a:rPr>
              <a:t>OCR gap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8E79B5-B78A-4036-A172-221124CB7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19450"/>
            <a:ext cx="647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Scanned/image-only PDFs need OCR before summarisation.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613C4D-D1CE-459C-8624-F8EC2DAA1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29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450"/>
          </a:solidFill>
          <a:ln xmlns:a="http://schemas.openxmlformats.org/drawingml/2006/main" w="0">
            <a:solidFill>
              <a:srgbClr val="B8545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00EC01-79A6-4555-BF7D-A1C24CAC3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719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8545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5450"/>
                </a:solidFill>
                <a:latin typeface="Aptos"/>
                <a:ea typeface="Aptos"/>
                <a:cs typeface="Aptos"/>
              </a:rPr>
              <a:t>Legal boundary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0AD521-B107-4FB9-B9F0-A65E8EDCD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771900"/>
            <a:ext cx="647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Comparison describes practical differences and avoids legal advice.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94A69E-D7E8-444B-BEB6-FF1489CB3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81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E"/>
          </a:solidFill>
          <a:ln xmlns:a="http://schemas.openxmlformats.org/drawingml/2006/main" w="0">
            <a:solidFill>
              <a:srgbClr val="2F6F5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4E61CE-A28A-43CD-91D8-0A14BB124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243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6F5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6F5E"/>
                </a:solidFill>
                <a:latin typeface="Aptos"/>
                <a:ea typeface="Aptos"/>
                <a:cs typeface="Aptos"/>
              </a:rPr>
              <a:t>Grounding dependency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FBF727-AE4E-4258-BF13-31D314CEA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24350"/>
            <a:ext cx="647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Unsupported values must be surfaced before details.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6C2113-6E76-4C8F-A7DD-0D92D55CF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339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B8A"/>
          </a:solidFill>
          <a:ln xmlns:a="http://schemas.openxmlformats.org/drawingml/2006/main" w="0">
            <a:solidFill>
              <a:srgbClr val="2E5B8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01C101-3985-41BE-B79A-112366C61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768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5B8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E5B8A"/>
                </a:solidFill>
                <a:latin typeface="Aptos"/>
                <a:ea typeface="Aptos"/>
                <a:cs typeface="Aptos"/>
              </a:rPr>
              <a:t>Credential safety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80DF4A-3421-4A76-BE5F-918E5532F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76800"/>
            <a:ext cx="647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.env values are required and must not be hardcoded.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D4B94A-D684-4F0C-A0D0-BB22AB51F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864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A8A"/>
          </a:solidFill>
          <a:ln xmlns:a="http://schemas.openxmlformats.org/drawingml/2006/main" w="0">
            <a:solidFill>
              <a:srgbClr val="6E5A8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606529-C502-455B-B0C0-2197F73AF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292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E5A8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E5A8A"/>
                </a:solidFill>
                <a:latin typeface="Aptos"/>
                <a:ea typeface="Aptos"/>
                <a:cs typeface="Aptos"/>
              </a:rPr>
              <a:t>Scale readiness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028F18-F96B-4DC1-A445-660E258FD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429250"/>
            <a:ext cx="647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Long documents may need async jobs, chunking, and observability.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187896-6893-4EAC-86C1-6F6A48C4B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7280"/>
          </a:solidFill>
          <a:ln xmlns:a="http://schemas.openxmlformats.org/drawingml/2006/main" w="0">
            <a:solidFill>
              <a:srgbClr val="6B728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B7E1EB-7E41-4281-978D-362BC19C7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742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Smart Lease Summariser | Project specification and implementation evidence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27DCCD-76E0-462F-8E36-C254F0DF8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B7280"/>
                </a:solidFill>
                <a:latin typeface="Aptos Mono"/>
                <a:ea typeface="Aptos Mono"/>
                <a:cs typeface="Aptos Mono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722401014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3A265C-15AE-464C-9560-AAB579CA5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207DA1-41A8-449A-ACE9-2C4B4837C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7DF"/>
          </a:solidFill>
          <a:ln xmlns:a="http://schemas.openxmlformats.org/drawingml/2006/main" w="0">
            <a:solidFill>
              <a:srgbClr val="D7E7DF"/>
            </a:solidFill>
            <a:prstDash val="solid"/>
          </a:ln>
        </p:spPr>
      </p:sp>
      <p:sp>
        <p:nvSpPr>
          <p:cNvPr id="3" name="kicker-next-iteration">
            <a:extLst xmlns:a="http://schemas.openxmlformats.org/drawingml/2006/main">
              <a:ext uri="{FF2B5EF4-FFF2-40B4-BE49-F238E27FC236}">
                <a16:creationId xmlns:a16="http://schemas.microsoft.com/office/drawing/2014/main" id="{2DA86788-70D5-403C-9D62-1E45B065B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61975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7E7D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D7E7DF"/>
                </a:solidFill>
                <a:latin typeface="Aptos Mono"/>
                <a:ea typeface="Aptos Mono"/>
                <a:cs typeface="Aptos Mono"/>
              </a:rPr>
              <a:t>NEXT ITERATION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DB977B-0DE6-405D-B01F-442BD8915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86677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next work is about production hardening, not another prompt rewrite.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692632-D68A-4498-8684-D1843EA1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E7D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7E7DF"/>
                </a:solidFill>
                <a:latin typeface="Aptos"/>
                <a:ea typeface="Aptos"/>
                <a:cs typeface="Aptos"/>
              </a:rPr>
              <a:t>The current v1 proves the architecture; the roadmap turns it into a managed internal service.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90B150-BAC3-42D6-BD26-389274684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762375"/>
            <a:ext cx="9239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34405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25ED9C-B0D5-4C3B-9C80-871920E9B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814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7B21"/>
          </a:solidFill>
          <a:ln xmlns:a="http://schemas.openxmlformats.org/drawingml/2006/main" w="0">
            <a:solidFill>
              <a:srgbClr val="C57B2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9E701D-F3BF-41D1-BFA3-BB376B975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576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C4CA0F-34A4-4C40-BC01-62242D489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33875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OCR and chunking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AB95C1-7054-4C27-8AC0-043B67EA6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863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D1D5D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1D5DB"/>
                </a:solidFill>
                <a:latin typeface="Aptos"/>
                <a:ea typeface="Aptos"/>
                <a:cs typeface="Aptos"/>
              </a:rPr>
              <a:t>handle scanned PDFs and longer leases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28BCDC-C28D-4511-B356-50696894A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814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B8A"/>
          </a:solidFill>
          <a:ln xmlns:a="http://schemas.openxmlformats.org/drawingml/2006/main" w="0">
            <a:solidFill>
              <a:srgbClr val="2E5B8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14AFE7-E754-4CAF-B65F-96A7B46F0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6576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C35084-548C-4E1E-8FFB-65AF2B3DB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333875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Auth and audit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C1B98B-48D8-43BC-B76E-69A3DFA6E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863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D1D5D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1D5DB"/>
                </a:solidFill>
                <a:latin typeface="Aptos"/>
                <a:ea typeface="Aptos"/>
                <a:cs typeface="Aptos"/>
              </a:rPr>
              <a:t>secure access and record review history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790586-740B-4D23-8D76-BA8712618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814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E"/>
          </a:solidFill>
          <a:ln xmlns:a="http://schemas.openxmlformats.org/drawingml/2006/main" w="0">
            <a:solidFill>
              <a:srgbClr val="2F6F5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18F830-D4E0-4594-AA73-4482297E9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576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BE0B55-B28A-4E7D-8E43-C0F2CE974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333875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Async processing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DCB1DF-62E3-4F80-BEBC-BA7312A0B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6863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D1D5D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1D5DB"/>
                </a:solidFill>
                <a:latin typeface="Aptos"/>
                <a:ea typeface="Aptos"/>
                <a:cs typeface="Aptos"/>
              </a:rPr>
              <a:t>queue long jobs and improve UX feedback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DC4AC4-9BA6-46D2-AD58-F9C7B0515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814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A8A"/>
          </a:solidFill>
          <a:ln xmlns:a="http://schemas.openxmlformats.org/drawingml/2006/main" w="0">
            <a:solidFill>
              <a:srgbClr val="6E5A8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371552-335D-4FDE-914B-6ED34BF60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576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E593F8-19CD-4BA2-A752-FCC390DBD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333875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Observability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DC8999-5D82-43A6-85DE-42F363A49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6863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D1D5D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1D5DB"/>
                </a:solidFill>
                <a:latin typeface="Aptos"/>
                <a:ea typeface="Aptos"/>
                <a:cs typeface="Aptos"/>
              </a:rPr>
              <a:t>track errors, latency, token use, unsupported rates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7CA33A-B69F-4864-A319-5D50EC007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5814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450"/>
          </a:solidFill>
          <a:ln xmlns:a="http://schemas.openxmlformats.org/drawingml/2006/main" w="0">
            <a:solidFill>
              <a:srgbClr val="B8545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B4A477-BC14-457A-9E01-C9AAC329B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6576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9CD237-9AC9-49CF-88CE-519774A10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333875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Human review loop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4BBD2B-BD36-4B7F-9875-BD79EE856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6863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D1D5D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1D5DB"/>
                </a:solidFill>
                <a:latin typeface="Aptos"/>
                <a:ea typeface="Aptos"/>
                <a:cs typeface="Aptos"/>
              </a:rPr>
              <a:t>route low-confidence fields for approval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973671-1719-42E6-BB2B-76E255FF9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7C0"/>
          </a:solidFill>
          <a:ln xmlns:a="http://schemas.openxmlformats.org/drawingml/2006/main" w="0">
            <a:solidFill>
              <a:srgbClr val="BAC7C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1310E4-0AA2-4DC8-A358-CA5D7A33F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742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AC7C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BAC7C0"/>
                </a:solidFill>
                <a:latin typeface="Aptos"/>
                <a:ea typeface="Aptos"/>
                <a:cs typeface="Aptos"/>
              </a:rPr>
              <a:t>Smart Lease Summariser | Project specification and implementation evidence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A71797-9BD4-4A64-A778-5AAEADF90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BAC7C0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BAC7C0"/>
                </a:solidFill>
                <a:latin typeface="Aptos Mono"/>
                <a:ea typeface="Aptos Mono"/>
                <a:cs typeface="Aptos Mono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8518029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2026-06-07T16:22:37.9960000Z</dcterms:created>
  <dcterms:modified xsi:type="dcterms:W3CDTF">2026-06-07T16:22:37.9960000Z</dcterms:modified>
</coreProperties>
</file>